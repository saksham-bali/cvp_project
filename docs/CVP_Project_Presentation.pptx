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772" autoAdjust="0"/>
  </p:normalViewPr>
  <p:slideViewPr>
    <p:cSldViewPr snapToGrid="0" snapToObjects="1">
      <p:cViewPr>
        <p:scale>
          <a:sx n="75" d="100"/>
          <a:sy n="75" d="100"/>
        </p:scale>
        <p:origin x="642"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430"/>
                </a:solidFill>
                <a:latin typeface="Calibri"/>
              </a:defRPr>
            </a:pPr>
            <a:r>
              <a:rPr lang="en-US" sz="1250" b="0" i="0" u="none" strike="noStrike">
                <a:solidFill>
                  <a:srgbClr val="1B2430"/>
                </a:solidFill>
                <a:latin typeface="Calibri"/>
              </a:rPr>
              <a:t>RealX3D train-view PSNR (dB), strong blur</a:t>
            </a:r>
          </a:p>
        </c:rich>
      </c:tx>
      <c:overlay val="0"/>
    </c:title>
    <c:autoTitleDeleted val="0"/>
    <c:plotArea>
      <c:layout/>
      <c:barChart>
        <c:barDir val="col"/>
        <c:grouping val="clustered"/>
        <c:varyColors val="0"/>
        <c:ser>
          <c:idx val="0"/>
          <c:order val="0"/>
          <c:tx>
            <c:strRef>
              <c:f>Sheet1!$B$1</c:f>
              <c:strCache>
                <c:ptCount val="1"/>
                <c:pt idx="0">
                  <c:v>Vanilla 3DGS</c:v>
                </c:pt>
              </c:strCache>
            </c:strRef>
          </c:tx>
          <c:spPr>
            <a:solidFill>
              <a:srgbClr val="8A94A6"/>
            </a:solidFill>
            <a:effectLst/>
          </c:spPr>
          <c:invertIfNegative val="0"/>
          <c:dLbls>
            <c:numFmt formatCode="0.00" sourceLinked="0"/>
            <c:spPr>
              <a:noFill/>
              <a:ln>
                <a:noFill/>
              </a:ln>
              <a:effectLst/>
            </c:spPr>
            <c:txPr>
              <a:bodyPr/>
              <a:lstStyle/>
              <a:p>
                <a:pPr>
                  <a:defRPr sz="100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Strong motion blur</c:v>
                </c:pt>
                <c:pt idx="1">
                  <c:v>Strong defocus blur</c:v>
                </c:pt>
              </c:strCache>
            </c:strRef>
          </c:cat>
          <c:val>
            <c:numRef>
              <c:f>Sheet1!$B$2:$B$3</c:f>
              <c:numCache>
                <c:formatCode>General</c:formatCode>
                <c:ptCount val="2"/>
                <c:pt idx="0">
                  <c:v>20.329999999999998</c:v>
                </c:pt>
                <c:pt idx="1">
                  <c:v>20.83</c:v>
                </c:pt>
              </c:numCache>
            </c:numRef>
          </c:val>
          <c:extLst>
            <c:ext xmlns:c16="http://schemas.microsoft.com/office/drawing/2014/chart" uri="{C3380CC4-5D6E-409C-BE32-E72D297353CC}">
              <c16:uniqueId val="{00000000-92FF-48B2-8054-05B7BE6479F7}"/>
            </c:ext>
          </c:extLst>
        </c:ser>
        <c:ser>
          <c:idx val="1"/>
          <c:order val="1"/>
          <c:tx>
            <c:strRef>
              <c:f>Sheet1!$C$1</c:f>
              <c:strCache>
                <c:ptCount val="1"/>
                <c:pt idx="0">
                  <c:v>Deblurring-3DGS</c:v>
                </c:pt>
              </c:strCache>
            </c:strRef>
          </c:tx>
          <c:spPr>
            <a:solidFill>
              <a:srgbClr val="2E7D8F"/>
            </a:solidFill>
            <a:effectLst/>
          </c:spPr>
          <c:invertIfNegative val="0"/>
          <c:dLbls>
            <c:numFmt formatCode="0.00" sourceLinked="0"/>
            <c:spPr>
              <a:noFill/>
              <a:ln>
                <a:noFill/>
              </a:ln>
              <a:effectLst/>
            </c:spPr>
            <c:txPr>
              <a:bodyPr/>
              <a:lstStyle/>
              <a:p>
                <a:pPr>
                  <a:defRPr sz="100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Strong motion blur</c:v>
                </c:pt>
                <c:pt idx="1">
                  <c:v>Strong defocus blur</c:v>
                </c:pt>
              </c:strCache>
            </c:strRef>
          </c:cat>
          <c:val>
            <c:numRef>
              <c:f>Sheet1!$C$2:$C$3</c:f>
              <c:numCache>
                <c:formatCode>General</c:formatCode>
                <c:ptCount val="2"/>
                <c:pt idx="0">
                  <c:v>20.64</c:v>
                </c:pt>
                <c:pt idx="1">
                  <c:v>19.82</c:v>
                </c:pt>
              </c:numCache>
            </c:numRef>
          </c:val>
          <c:extLst>
            <c:ext xmlns:c16="http://schemas.microsoft.com/office/drawing/2014/chart" uri="{C3380CC4-5D6E-409C-BE32-E72D297353CC}">
              <c16:uniqueId val="{00000001-92FF-48B2-8054-05B7BE6479F7}"/>
            </c:ext>
          </c:extLst>
        </c:ser>
        <c:ser>
          <c:idx val="2"/>
          <c:order val="2"/>
          <c:tx>
            <c:strRef>
              <c:f>Sheet1!$D$1</c:f>
              <c:strCache>
                <c:ptCount val="1"/>
                <c:pt idx="0">
                  <c:v>BAGS</c:v>
                </c:pt>
              </c:strCache>
            </c:strRef>
          </c:tx>
          <c:spPr>
            <a:solidFill>
              <a:srgbClr val="E8833A"/>
            </a:solidFill>
            <a:effectLst/>
          </c:spPr>
          <c:invertIfNegative val="0"/>
          <c:dLbls>
            <c:numFmt formatCode="0.00" sourceLinked="0"/>
            <c:spPr>
              <a:noFill/>
              <a:ln>
                <a:noFill/>
              </a:ln>
              <a:effectLst/>
            </c:spPr>
            <c:txPr>
              <a:bodyPr/>
              <a:lstStyle/>
              <a:p>
                <a:pPr>
                  <a:defRPr sz="1000" b="0" i="0" u="none" strike="noStrike">
                    <a:solidFill>
                      <a:srgbClr val="1B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Strong motion blur</c:v>
                </c:pt>
                <c:pt idx="1">
                  <c:v>Strong defocus blur</c:v>
                </c:pt>
              </c:strCache>
            </c:strRef>
          </c:cat>
          <c:val>
            <c:numRef>
              <c:f>Sheet1!$D$2:$D$3</c:f>
              <c:numCache>
                <c:formatCode>General</c:formatCode>
                <c:ptCount val="2"/>
                <c:pt idx="0">
                  <c:v>18.75</c:v>
                </c:pt>
                <c:pt idx="1">
                  <c:v>21.01</c:v>
                </c:pt>
              </c:numCache>
            </c:numRef>
          </c:val>
          <c:extLst>
            <c:ext xmlns:c16="http://schemas.microsoft.com/office/drawing/2014/chart" uri="{C3380CC4-5D6E-409C-BE32-E72D297353CC}">
              <c16:uniqueId val="{00000002-92FF-48B2-8054-05B7BE6479F7}"/>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0"/>
                </a:solidFill>
                <a:latin typeface="Calibri"/>
              </a:defRPr>
            </a:pPr>
            <a:endParaRPr lang="en-US"/>
          </a:p>
        </c:txPr>
        <c:crossAx val="2094734552"/>
        <c:crosses val="autoZero"/>
        <c:auto val="1"/>
        <c:lblAlgn val="ctr"/>
        <c:lblOffset val="100"/>
        <c:noMultiLvlLbl val="1"/>
      </c:catAx>
      <c:valAx>
        <c:axId val="2094734552"/>
        <c:scaling>
          <c:orientation val="minMax"/>
          <c:max val="21.8"/>
          <c:min val="18"/>
        </c:scaling>
        <c:delete val="0"/>
        <c:axPos val="l"/>
        <c:majorGridlines>
          <c:spPr>
            <a:ln w="1270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5"/>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050">
              <a:solidFill>
                <a:srgbClr val="1B2430"/>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879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~1:15]
Start with the key idea behind the project. Lee and Lee, CVPR 2013, showed that motion blur is not simply a 2D image corruption. During an exposure, a 3D point moves across the image as the camera moves — so the blur kernel at a pixel is the projected trajectory of that point, and it is fixed by the point's depth together with the camera motion and exposure time.
Walk the diagram: camera moves during exposure, the same 3D point projects to different image positions, and that smear IS the blur kernel. Depth controls how far it smears — near points smear more than far ones under the same motion.
So under a known camera motion and exposure model, estimating the blur kernel can be formulated through scene depth. Put simply: blur carries geometric information.
This is an important conceptual foundation for later blur-aware reconstruction work, including methods in the NeRF and 3DGS literature — Deblur-NeRF, and on the 3DGS side Deblurring-3DGS, BAD-Gaussians, BAGS, CoCoGaussian.
Our question: when these ideas meet REAL captured blur, do they actually recover the geometry? Hand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 ~2:15]
RealX3D gives us an interesting observation. Look at the strong-blur results: the ranking changes depending on the TYPE of blur.
Under strong motion blur, Deblurring-3DGS gives 20.64 dB, just above vanilla 3DGS at 20.33, while BAGS is well below at 18.75.
Under strong defocus the picture reverses: BAGS reaches 21.01, and Deblurring-3DGS drops to 19.82 — below vanilla 3DGS at 20.83.
So no single blur-aware method consistently dominates, and the blur-unaware baseline stays competitive.
But here is the more important issue. These are image-quality metrics. RealX3D DOES have laser-scanned geometric ground truth, and it does report accuracy, completeness and F-score — but only for the feed-forward foundation models, not for these six optimisation-based blur methods. So we do not know whether a method with good PSNR is actually recovering the important structures.
That gives us two questions. Q1, the diagnosis: do these methods fail disproportionately on particular kinds of geometry? Q2, the intervention: if they do, can we allocate Gaussian primitives more intelligently toward those regions?
IF ASKED about mild blur: the main table reports the strong setting; the mild per-scene numbers are in the appendix and we are verifying them, so we deliberately are not leaning on that claim.
The other three of the six are Deblur-GS, BAD-Gaussians and CoCoGaussian — omitted from the chart for legibility, not from the study.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~2:30]
Our approach has two stages: diagnose first, then intervene.
STAGE 1 is purely diagnostic. We take the laser-scanned ground truth and characterise regions by two structural properties — local curvature and surface proximity. We split each into three levels and evaluate reconstruction quality separately per stratum, using accuracy, completeness and F-score rather than PSNR alone.
One design choice worth calling out: we build the evaluation point cloud with the same depth-rendering and back-projection procedure for every method. We do not use Gaussian centres, because centres describe primitive placement rather than the reconstructed surface.
STAGE 2. Our hypothesis is that blur weakens the view-space gradient signal that standard 3DGS densification relies on, which may leave structurally fragile regions with too few primitives. Note this is a hypothesis — Stage 1 is what tests whether those regions actually show larger geometric error. We then test two factors: sharpness as a reliability weight on the gradient, and a threshold adjusted by structural fragility. The exact weighting function is selected by ablation, not fixed in advance.
SAY THE LEAKAGE LINE OUT LOUD: the laser ground truth is used for diagnosis and evaluation only. The densification rule has to estimate fragility from the reconstruction itself, otherwise we would be feeding the answer into training.
And say the positioning line: adaptive densification is not new. Pixel-GS, AbsGS, EA-3DGS and BSGS already address related problems. Our contribution is the combination of blur reliability and structural fragility, evaluated geometrically.
Stage 2 is guided by, not dependent on, Stage 1: if thin structures are NOT disproportionately degraded, the same instrumentation tests the converse allocation hypothesis.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 ~2:00, then stop for questions]
For evaluation we use the RealX3D blur subset: eight scenes, motion and defocus, each at mild and strong severity.
Our core grid is four methods — vanilla 3DGS, Deblurring-3DGS as the representative motion-oriented baseline, BAGS as the representative defocus-oriented baseline, and our method. That is 128 degraded-condition runs, plus the undegraded captures as clean controls. The remaining two methods are an extension if time and implementation allow.
We retain PSNR, SSIM and LPIPS so we can reproduce the published benchmark, but our primary evaluation is geometric: accuracy, completeness and F-score against the laser scan, reported per structural stratum.
The ablation is what separates our two factors — sharpness weighting alone, structural weighting alone, and both, against vanilla ADC and MCMC densification.
The outcome we want is not simply a higher global score. We want to know whether geometric error concentrates in particular structural regions, and whether targeted densification improves those regions WITHOUT degrading the reconstruction overall.
Close on the null-result line, then stop. Do not walk the risk box unless asked.
STATISTICS IF ASKED: with 8 scenes we report paired per-scene differences with bootstrap confidence intervals and a Wilcoxon signed-rank test, and we show every scene — conclusions are not driven by one or two scenes.
LIKELY QUESTIONS:
Q: Hasn't weighted densification been done? A: Yes — adaptive densification itself is not our novelty. Pixel-GS, AbsGS, EA-3DGS and BSGS already address related forms. Our question is whether combining blur reliability with structural fragility, and evaluating with laser-scanned geometry, addresses the specific failures we diagnose in Stage 1.
Q: How does training know a region is fragile if GT is evaluation-only? A: From reconstruction-time signals — the local neighbourhood of the current Gaussians and per-view sharpness. The laser scan never enters the training loop; it only scores the result.
Q: Are depth-fused clouds a fair basis? A: We use one identical extraction procedure for every method, so the comparison is controlled, and we cross-check against RealX3D's 16-bit metric depth so the result is not an artifact of the extractor. It is also the protocol 2DGS, GOF and RaDe-GS use.
Q: Won't ICP bias per-stratum results? A: Yes if done naively. We align once on flat, high-visibility regions, freeze the transform, and report sensitivity to the alignment set.
Q: Is 8 scenes enough? A: We don't claim population significance — paired per-scene deltas, bootstrap CIs, every scene shown.
Q: Why anchor on a 2013 paper? A: It is the conceptual origin of depth-parameterised blur, which modern blur-aware NeRF and 3DGS methods operationalise. We anchor on the principle, not the method.
Q: Is 128 runs feasible? A: RealX3D ships COLMAP and GT poses, so we avoid running SfM on blurred images. Stage 2 is scoped to two methods on strong settings first; mild settings and extra methods are stretch.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C2E"/>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6583680" cy="274320"/>
          </a:xfrm>
          <a:prstGeom prst="rect">
            <a:avLst/>
          </a:prstGeom>
          <a:noFill/>
          <a:ln/>
        </p:spPr>
        <p:txBody>
          <a:bodyPr wrap="square" lIns="0" tIns="0" rIns="0" bIns="0" rtlCol="0" anchor="ctr"/>
          <a:lstStyle/>
          <a:p>
            <a:pPr marL="0" indent="0">
              <a:buNone/>
            </a:pPr>
            <a:r>
              <a:rPr lang="en-US" sz="1200" b="1" kern="0" spc="120" dirty="0">
                <a:solidFill>
                  <a:srgbClr val="E8833A"/>
                </a:solidFill>
                <a:latin typeface="Calibri" pitchFamily="34" charset="0"/>
                <a:ea typeface="Calibri" pitchFamily="34" charset="-122"/>
                <a:cs typeface="Calibri" pitchFamily="34" charset="-120"/>
              </a:rPr>
              <a:t>Computer Vision &amp; Perception  ·  Project Proposal</a:t>
            </a:r>
            <a:endParaRPr lang="en-US" sz="1200" dirty="0"/>
          </a:p>
        </p:txBody>
      </p:sp>
      <p:sp>
        <p:nvSpPr>
          <p:cNvPr id="3" name="Text 1"/>
          <p:cNvSpPr txBox="1"/>
          <p:nvPr/>
        </p:nvSpPr>
        <p:spPr>
          <a:xfrm>
            <a:off x="640080" y="1051560"/>
            <a:ext cx="6583680" cy="2194560"/>
          </a:xfrm>
          <a:prstGeom prst="rect">
            <a:avLst/>
          </a:prstGeom>
          <a:noFill/>
          <a:ln/>
        </p:spPr>
        <p:txBody>
          <a:bodyPr wrap="square" lIns="0" tIns="0" rIns="0" bIns="0" rtlCol="0" anchor="ctr"/>
          <a:lstStyle/>
          <a:p>
            <a:pPr marL="0" indent="0">
              <a:lnSpc>
                <a:spcPts val="3800"/>
              </a:lnSpc>
              <a:buNone/>
            </a:pPr>
            <a:r>
              <a:rPr lang="en-US" sz="3000" b="1" dirty="0">
                <a:solidFill>
                  <a:srgbClr val="FFFFFF"/>
                </a:solidFill>
                <a:latin typeface="Cambria" pitchFamily="34" charset="0"/>
                <a:ea typeface="Cambria" pitchFamily="34" charset="-122"/>
                <a:cs typeface="Cambria" pitchFamily="34" charset="-120"/>
              </a:rPr>
              <a:t>Structural Failure Diagnosis and</a:t>
            </a:r>
            <a:endParaRPr lang="en-US" sz="3000" dirty="0"/>
          </a:p>
          <a:p>
            <a:pPr marL="0" indent="0">
              <a:lnSpc>
                <a:spcPts val="3800"/>
              </a:lnSpc>
              <a:buNone/>
            </a:pPr>
            <a:r>
              <a:rPr lang="en-US" sz="3000" b="1" dirty="0">
                <a:solidFill>
                  <a:srgbClr val="FFFFFF"/>
                </a:solidFill>
                <a:latin typeface="Cambria" pitchFamily="34" charset="0"/>
                <a:ea typeface="Cambria" pitchFamily="34" charset="-122"/>
                <a:cs typeface="Cambria" pitchFamily="34" charset="-120"/>
              </a:rPr>
              <a:t>Structure-Aware Densification for</a:t>
            </a:r>
            <a:endParaRPr lang="en-US" sz="3000" dirty="0"/>
          </a:p>
          <a:p>
            <a:pPr marL="0" indent="0">
              <a:lnSpc>
                <a:spcPts val="3800"/>
              </a:lnSpc>
              <a:buNone/>
            </a:pPr>
            <a:r>
              <a:rPr lang="en-US" sz="3000" b="1" dirty="0">
                <a:solidFill>
                  <a:srgbClr val="FFFFFF"/>
                </a:solidFill>
                <a:latin typeface="Cambria" pitchFamily="34" charset="0"/>
                <a:ea typeface="Cambria" pitchFamily="34" charset="-122"/>
                <a:cs typeface="Cambria" pitchFamily="34" charset="-120"/>
              </a:rPr>
              <a:t>3D Gaussian Splatting under Real Blur</a:t>
            </a:r>
            <a:endParaRPr lang="en-US" sz="3000" dirty="0"/>
          </a:p>
        </p:txBody>
      </p:sp>
      <p:sp>
        <p:nvSpPr>
          <p:cNvPr id="4" name="Text 2"/>
          <p:cNvSpPr txBox="1"/>
          <p:nvPr/>
        </p:nvSpPr>
        <p:spPr>
          <a:xfrm>
            <a:off x="640080" y="3429000"/>
            <a:ext cx="6492240" cy="411480"/>
          </a:xfrm>
          <a:prstGeom prst="rect">
            <a:avLst/>
          </a:prstGeom>
          <a:noFill/>
          <a:ln/>
        </p:spPr>
        <p:txBody>
          <a:bodyPr wrap="square" lIns="0" tIns="0" rIns="0" bIns="0" rtlCol="0" anchor="ctr"/>
          <a:lstStyle/>
          <a:p>
            <a:pPr marL="0" indent="0">
              <a:buNone/>
            </a:pPr>
            <a:r>
              <a:rPr lang="en-US" sz="1450" i="1" dirty="0">
                <a:solidFill>
                  <a:srgbClr val="CBD5E1"/>
                </a:solidFill>
                <a:latin typeface="Calibri" pitchFamily="34" charset="0"/>
                <a:ea typeface="Calibri" pitchFamily="34" charset="-122"/>
                <a:cs typeface="Calibri" pitchFamily="34" charset="-120"/>
              </a:rPr>
              <a:t>Blur is a geometric failure. We measure it geometrically — then fix where it hurts.</a:t>
            </a:r>
            <a:endParaRPr lang="en-US" sz="1450" dirty="0"/>
          </a:p>
        </p:txBody>
      </p:sp>
      <p:sp>
        <p:nvSpPr>
          <p:cNvPr id="5" name="Text 3"/>
          <p:cNvSpPr txBox="1"/>
          <p:nvPr/>
        </p:nvSpPr>
        <p:spPr>
          <a:xfrm>
            <a:off x="640080" y="4069080"/>
            <a:ext cx="6492240" cy="640080"/>
          </a:xfrm>
          <a:prstGeom prst="rect">
            <a:avLst/>
          </a:prstGeom>
          <a:noFill/>
          <a:ln/>
        </p:spPr>
        <p:txBody>
          <a:bodyPr wrap="square" lIns="0" tIns="0" rIns="0" bIns="0" rtlCol="0" anchor="ctr"/>
          <a:lstStyle/>
          <a:p>
            <a:pPr marL="0" indent="0">
              <a:lnSpc>
                <a:spcPts val="1700"/>
              </a:lnSpc>
              <a:buNone/>
            </a:pPr>
            <a:r>
              <a:rPr lang="en-US" sz="1250" dirty="0">
                <a:solidFill>
                  <a:srgbClr val="C3CCD8"/>
                </a:solidFill>
                <a:latin typeface="Calibri" pitchFamily="34" charset="0"/>
                <a:ea typeface="Calibri" pitchFamily="34" charset="-122"/>
                <a:cs typeface="Calibri" pitchFamily="34" charset="-120"/>
              </a:rPr>
              <a:t>Given camera motion and exposure time, a pixel's blur kernel is the projected</a:t>
            </a:r>
            <a:endParaRPr lang="en-US" sz="1250" dirty="0"/>
          </a:p>
          <a:p>
            <a:pPr marL="0" indent="0">
              <a:lnSpc>
                <a:spcPts val="1700"/>
              </a:lnSpc>
              <a:buNone/>
            </a:pPr>
            <a:r>
              <a:rPr lang="en-US" sz="1250" dirty="0">
                <a:solidFill>
                  <a:srgbClr val="C3CCD8"/>
                </a:solidFill>
                <a:latin typeface="Calibri" pitchFamily="34" charset="0"/>
                <a:ea typeface="Calibri" pitchFamily="34" charset="-122"/>
                <a:cs typeface="Calibri" pitchFamily="34" charset="-120"/>
              </a:rPr>
              <a:t>trajectory of its 3D scene point — fixed in closed form by that pixel's depth.</a:t>
            </a:r>
            <a:endParaRPr lang="en-US" sz="1250" dirty="0"/>
          </a:p>
        </p:txBody>
      </p:sp>
      <p:sp>
        <p:nvSpPr>
          <p:cNvPr id="6" name="Text 4"/>
          <p:cNvSpPr txBox="1"/>
          <p:nvPr/>
        </p:nvSpPr>
        <p:spPr>
          <a:xfrm>
            <a:off x="640080" y="5120640"/>
            <a:ext cx="658368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Saksham Bali</a:t>
            </a:r>
            <a:r>
              <a:rPr lang="en-US" sz="1400" dirty="0">
                <a:solidFill>
                  <a:srgbClr val="8A94A6"/>
                </a:solidFill>
                <a:latin typeface="Calibri" pitchFamily="34" charset="0"/>
                <a:ea typeface="Calibri" pitchFamily="34" charset="-122"/>
                <a:cs typeface="Calibri" pitchFamily="34" charset="-120"/>
              </a:rPr>
              <a:t>   ·   </a:t>
            </a:r>
            <a:r>
              <a:rPr lang="en-US" sz="1400" b="1" dirty="0">
                <a:solidFill>
                  <a:srgbClr val="FFFFFF"/>
                </a:solidFill>
                <a:latin typeface="Calibri" pitchFamily="34" charset="0"/>
                <a:ea typeface="Calibri" pitchFamily="34" charset="-122"/>
                <a:cs typeface="Calibri" pitchFamily="34" charset="-120"/>
              </a:rPr>
              <a:t>Aditya Masutey</a:t>
            </a:r>
            <a:endParaRPr lang="en-US" sz="1400" dirty="0"/>
          </a:p>
        </p:txBody>
      </p:sp>
      <p:sp>
        <p:nvSpPr>
          <p:cNvPr id="7" name="Text 5"/>
          <p:cNvSpPr txBox="1"/>
          <p:nvPr/>
        </p:nvSpPr>
        <p:spPr>
          <a:xfrm>
            <a:off x="640080" y="5440680"/>
            <a:ext cx="6583680" cy="274320"/>
          </a:xfrm>
          <a:prstGeom prst="rect">
            <a:avLst/>
          </a:prstGeom>
          <a:noFill/>
          <a:ln/>
        </p:spPr>
        <p:txBody>
          <a:bodyPr wrap="square" lIns="0" tIns="0" rIns="0" bIns="0" rtlCol="0" anchor="ctr"/>
          <a:lstStyle/>
          <a:p>
            <a:pPr marL="0" indent="0">
              <a:buNone/>
            </a:pPr>
            <a:endParaRPr lang="en-US" sz="1150" dirty="0"/>
          </a:p>
        </p:txBody>
      </p:sp>
      <p:sp>
        <p:nvSpPr>
          <p:cNvPr id="8" name="Shape 6"/>
          <p:cNvSpPr/>
          <p:nvPr/>
        </p:nvSpPr>
        <p:spPr>
          <a:xfrm>
            <a:off x="7635240" y="1188720"/>
            <a:ext cx="4069080" cy="3703320"/>
          </a:xfrm>
          <a:prstGeom prst="roundRect">
            <a:avLst>
              <a:gd name="adj" fmla="val 1975"/>
            </a:avLst>
          </a:prstGeom>
          <a:solidFill>
            <a:srgbClr val="1D2B42"/>
          </a:solidFill>
          <a:ln/>
        </p:spPr>
        <p:txBody>
          <a:bodyPr/>
          <a:lstStyle/>
          <a:p>
            <a:endParaRPr lang="en-IN"/>
          </a:p>
        </p:txBody>
      </p:sp>
      <p:sp>
        <p:nvSpPr>
          <p:cNvPr id="9" name="Shape 7"/>
          <p:cNvSpPr/>
          <p:nvPr/>
        </p:nvSpPr>
        <p:spPr>
          <a:xfrm>
            <a:off x="9052560" y="2468880"/>
            <a:ext cx="0" cy="2057400"/>
          </a:xfrm>
          <a:prstGeom prst="line">
            <a:avLst/>
          </a:prstGeom>
          <a:noFill/>
          <a:ln w="15875">
            <a:solidFill>
              <a:srgbClr val="9BA7B6"/>
            </a:solidFill>
            <a:prstDash val="solid"/>
          </a:ln>
        </p:spPr>
        <p:txBody>
          <a:bodyPr/>
          <a:lstStyle/>
          <a:p>
            <a:endParaRPr lang="en-IN"/>
          </a:p>
        </p:txBody>
      </p:sp>
      <p:sp>
        <p:nvSpPr>
          <p:cNvPr id="10" name="Text 8"/>
          <p:cNvSpPr txBox="1"/>
          <p:nvPr/>
        </p:nvSpPr>
        <p:spPr>
          <a:xfrm>
            <a:off x="8531352" y="2221992"/>
            <a:ext cx="1051560" cy="201168"/>
          </a:xfrm>
          <a:prstGeom prst="rect">
            <a:avLst/>
          </a:prstGeom>
          <a:noFill/>
          <a:ln/>
        </p:spPr>
        <p:txBody>
          <a:bodyPr wrap="square" lIns="0" tIns="0" rIns="0" bIns="0" rtlCol="0" anchor="ctr"/>
          <a:lstStyle/>
          <a:p>
            <a:pPr marL="0" indent="0" algn="ctr">
              <a:buNone/>
            </a:pPr>
            <a:r>
              <a:rPr lang="en-US" sz="850" dirty="0">
                <a:solidFill>
                  <a:srgbClr val="9BA7B6"/>
                </a:solidFill>
                <a:latin typeface="Calibri" pitchFamily="34" charset="0"/>
                <a:ea typeface="Calibri" pitchFamily="34" charset="-122"/>
                <a:cs typeface="Calibri" pitchFamily="34" charset="-120"/>
              </a:rPr>
              <a:t>image plane</a:t>
            </a:r>
            <a:endParaRPr lang="en-US" sz="850" dirty="0"/>
          </a:p>
        </p:txBody>
      </p:sp>
      <p:sp>
        <p:nvSpPr>
          <p:cNvPr id="11" name="Shape 9"/>
          <p:cNvSpPr/>
          <p:nvPr/>
        </p:nvSpPr>
        <p:spPr>
          <a:xfrm flipV="1">
            <a:off x="8183880" y="2194560"/>
            <a:ext cx="3063240" cy="2011680"/>
          </a:xfrm>
          <a:prstGeom prst="line">
            <a:avLst/>
          </a:prstGeom>
          <a:noFill/>
          <a:ln w="12700">
            <a:solidFill>
              <a:srgbClr val="9BA7B6"/>
            </a:solidFill>
            <a:prstDash val="dash"/>
          </a:ln>
        </p:spPr>
        <p:txBody>
          <a:bodyPr/>
          <a:lstStyle/>
          <a:p>
            <a:endParaRPr lang="en-IN"/>
          </a:p>
        </p:txBody>
      </p:sp>
      <p:sp>
        <p:nvSpPr>
          <p:cNvPr id="12" name="Shape 10"/>
          <p:cNvSpPr/>
          <p:nvPr/>
        </p:nvSpPr>
        <p:spPr>
          <a:xfrm flipV="1">
            <a:off x="8183880" y="2194560"/>
            <a:ext cx="3063240" cy="1280160"/>
          </a:xfrm>
          <a:prstGeom prst="line">
            <a:avLst/>
          </a:prstGeom>
          <a:noFill/>
          <a:ln w="12700">
            <a:solidFill>
              <a:srgbClr val="9BA7B6"/>
            </a:solidFill>
            <a:prstDash val="dash"/>
          </a:ln>
        </p:spPr>
        <p:txBody>
          <a:bodyPr/>
          <a:lstStyle/>
          <a:p>
            <a:endParaRPr lang="en-IN"/>
          </a:p>
        </p:txBody>
      </p:sp>
      <p:sp>
        <p:nvSpPr>
          <p:cNvPr id="13" name="Shape 11"/>
          <p:cNvSpPr/>
          <p:nvPr/>
        </p:nvSpPr>
        <p:spPr>
          <a:xfrm>
            <a:off x="7973568" y="4069080"/>
            <a:ext cx="384048" cy="274320"/>
          </a:xfrm>
          <a:prstGeom prst="roundRect">
            <a:avLst>
              <a:gd name="adj" fmla="val 83333"/>
            </a:avLst>
          </a:prstGeom>
          <a:solidFill>
            <a:srgbClr val="2E7D8F"/>
          </a:solidFill>
          <a:ln/>
        </p:spPr>
        <p:txBody>
          <a:bodyPr/>
          <a:lstStyle/>
          <a:p>
            <a:endParaRPr lang="en-IN"/>
          </a:p>
        </p:txBody>
      </p:sp>
      <p:sp>
        <p:nvSpPr>
          <p:cNvPr id="14" name="Shape 12"/>
          <p:cNvSpPr/>
          <p:nvPr/>
        </p:nvSpPr>
        <p:spPr>
          <a:xfrm>
            <a:off x="7973568" y="3337560"/>
            <a:ext cx="384048" cy="274320"/>
          </a:xfrm>
          <a:prstGeom prst="roundRect">
            <a:avLst>
              <a:gd name="adj" fmla="val 83333"/>
            </a:avLst>
          </a:prstGeom>
          <a:solidFill>
            <a:srgbClr val="2E7D8F"/>
          </a:solidFill>
          <a:ln/>
        </p:spPr>
        <p:txBody>
          <a:bodyPr/>
          <a:lstStyle/>
          <a:p>
            <a:endParaRPr lang="en-IN"/>
          </a:p>
        </p:txBody>
      </p:sp>
      <p:sp>
        <p:nvSpPr>
          <p:cNvPr id="15" name="Shape 13"/>
          <p:cNvSpPr/>
          <p:nvPr/>
        </p:nvSpPr>
        <p:spPr>
          <a:xfrm flipV="1">
            <a:off x="7827264" y="3493008"/>
            <a:ext cx="0" cy="566928"/>
          </a:xfrm>
          <a:prstGeom prst="line">
            <a:avLst/>
          </a:prstGeom>
          <a:noFill/>
          <a:ln w="19050">
            <a:solidFill>
              <a:srgbClr val="E8833A"/>
            </a:solidFill>
            <a:prstDash val="solid"/>
            <a:tailEnd type="triangle"/>
          </a:ln>
        </p:spPr>
        <p:txBody>
          <a:bodyPr/>
          <a:lstStyle/>
          <a:p>
            <a:endParaRPr lang="en-IN"/>
          </a:p>
        </p:txBody>
      </p:sp>
      <p:sp>
        <p:nvSpPr>
          <p:cNvPr id="16" name="Text 14"/>
          <p:cNvSpPr txBox="1"/>
          <p:nvPr/>
        </p:nvSpPr>
        <p:spPr>
          <a:xfrm>
            <a:off x="7772400" y="4590288"/>
            <a:ext cx="1920240" cy="219456"/>
          </a:xfrm>
          <a:prstGeom prst="rect">
            <a:avLst/>
          </a:prstGeom>
          <a:noFill/>
          <a:ln/>
        </p:spPr>
        <p:txBody>
          <a:bodyPr wrap="square" lIns="0" tIns="0" rIns="0" bIns="0" rtlCol="0" anchor="ctr"/>
          <a:lstStyle/>
          <a:p>
            <a:pPr marL="0" indent="0" algn="l">
              <a:buNone/>
            </a:pPr>
            <a:r>
              <a:rPr lang="en-US" sz="850" dirty="0">
                <a:solidFill>
                  <a:srgbClr val="E8833A"/>
                </a:solidFill>
                <a:latin typeface="Calibri" pitchFamily="34" charset="0"/>
                <a:ea typeface="Calibri" pitchFamily="34" charset="-122"/>
                <a:cs typeface="Calibri" pitchFamily="34" charset="-120"/>
              </a:rPr>
              <a:t>camera motion during exposure τ</a:t>
            </a:r>
            <a:endParaRPr lang="en-US" sz="850" dirty="0"/>
          </a:p>
        </p:txBody>
      </p:sp>
      <p:sp>
        <p:nvSpPr>
          <p:cNvPr id="17" name="Shape 15"/>
          <p:cNvSpPr/>
          <p:nvPr/>
        </p:nvSpPr>
        <p:spPr>
          <a:xfrm>
            <a:off x="11164824" y="2112264"/>
            <a:ext cx="164592" cy="164592"/>
          </a:xfrm>
          <a:prstGeom prst="ellipse">
            <a:avLst/>
          </a:prstGeom>
          <a:solidFill>
            <a:srgbClr val="FFFFFF"/>
          </a:solidFill>
          <a:ln/>
        </p:spPr>
        <p:txBody>
          <a:bodyPr/>
          <a:lstStyle/>
          <a:p>
            <a:endParaRPr lang="en-IN"/>
          </a:p>
        </p:txBody>
      </p:sp>
      <p:sp>
        <p:nvSpPr>
          <p:cNvPr id="18" name="Text 16"/>
          <p:cNvSpPr txBox="1"/>
          <p:nvPr/>
        </p:nvSpPr>
        <p:spPr>
          <a:xfrm>
            <a:off x="10012680" y="1828800"/>
            <a:ext cx="1417320" cy="219456"/>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3D scene point X</a:t>
            </a:r>
            <a:endParaRPr lang="en-US" sz="900" dirty="0"/>
          </a:p>
        </p:txBody>
      </p:sp>
      <p:sp>
        <p:nvSpPr>
          <p:cNvPr id="19" name="Shape 17"/>
          <p:cNvSpPr/>
          <p:nvPr/>
        </p:nvSpPr>
        <p:spPr>
          <a:xfrm>
            <a:off x="8997696" y="3054096"/>
            <a:ext cx="109728" cy="109728"/>
          </a:xfrm>
          <a:prstGeom prst="ellipse">
            <a:avLst/>
          </a:prstGeom>
          <a:solidFill>
            <a:srgbClr val="E8833A"/>
          </a:solidFill>
          <a:ln/>
        </p:spPr>
        <p:txBody>
          <a:bodyPr/>
          <a:lstStyle/>
          <a:p>
            <a:endParaRPr lang="en-IN"/>
          </a:p>
        </p:txBody>
      </p:sp>
      <p:sp>
        <p:nvSpPr>
          <p:cNvPr id="20" name="Shape 18"/>
          <p:cNvSpPr/>
          <p:nvPr/>
        </p:nvSpPr>
        <p:spPr>
          <a:xfrm>
            <a:off x="9011412" y="3200400"/>
            <a:ext cx="82296" cy="82296"/>
          </a:xfrm>
          <a:prstGeom prst="ellipse">
            <a:avLst/>
          </a:prstGeom>
          <a:solidFill>
            <a:srgbClr val="E8833A">
              <a:alpha val="65000"/>
            </a:srgbClr>
          </a:solidFill>
          <a:ln/>
        </p:spPr>
        <p:txBody>
          <a:bodyPr/>
          <a:lstStyle/>
          <a:p>
            <a:endParaRPr lang="en-IN"/>
          </a:p>
        </p:txBody>
      </p:sp>
      <p:sp>
        <p:nvSpPr>
          <p:cNvPr id="21" name="Shape 19"/>
          <p:cNvSpPr/>
          <p:nvPr/>
        </p:nvSpPr>
        <p:spPr>
          <a:xfrm>
            <a:off x="9011412" y="3332988"/>
            <a:ext cx="82296" cy="82296"/>
          </a:xfrm>
          <a:prstGeom prst="ellipse">
            <a:avLst/>
          </a:prstGeom>
          <a:solidFill>
            <a:srgbClr val="E8833A">
              <a:alpha val="65000"/>
            </a:srgbClr>
          </a:solidFill>
          <a:ln/>
        </p:spPr>
        <p:txBody>
          <a:bodyPr/>
          <a:lstStyle/>
          <a:p>
            <a:endParaRPr lang="en-IN"/>
          </a:p>
        </p:txBody>
      </p:sp>
      <p:sp>
        <p:nvSpPr>
          <p:cNvPr id="22" name="Shape 20"/>
          <p:cNvSpPr/>
          <p:nvPr/>
        </p:nvSpPr>
        <p:spPr>
          <a:xfrm>
            <a:off x="9011412" y="3465576"/>
            <a:ext cx="82296" cy="82296"/>
          </a:xfrm>
          <a:prstGeom prst="ellipse">
            <a:avLst/>
          </a:prstGeom>
          <a:solidFill>
            <a:srgbClr val="E8833A">
              <a:alpha val="65000"/>
            </a:srgbClr>
          </a:solidFill>
          <a:ln/>
        </p:spPr>
        <p:txBody>
          <a:bodyPr/>
          <a:lstStyle/>
          <a:p>
            <a:endParaRPr lang="en-IN"/>
          </a:p>
        </p:txBody>
      </p:sp>
      <p:sp>
        <p:nvSpPr>
          <p:cNvPr id="23" name="Shape 21"/>
          <p:cNvSpPr/>
          <p:nvPr/>
        </p:nvSpPr>
        <p:spPr>
          <a:xfrm>
            <a:off x="8997696" y="3584448"/>
            <a:ext cx="109728" cy="109728"/>
          </a:xfrm>
          <a:prstGeom prst="ellipse">
            <a:avLst/>
          </a:prstGeom>
          <a:solidFill>
            <a:srgbClr val="E8833A"/>
          </a:solidFill>
          <a:ln/>
        </p:spPr>
        <p:txBody>
          <a:bodyPr/>
          <a:lstStyle/>
          <a:p>
            <a:endParaRPr lang="en-IN"/>
          </a:p>
        </p:txBody>
      </p:sp>
      <p:sp>
        <p:nvSpPr>
          <p:cNvPr id="24" name="Text 22"/>
          <p:cNvSpPr txBox="1"/>
          <p:nvPr/>
        </p:nvSpPr>
        <p:spPr>
          <a:xfrm>
            <a:off x="9189720" y="3785616"/>
            <a:ext cx="1600200" cy="438912"/>
          </a:xfrm>
          <a:prstGeom prst="rect">
            <a:avLst/>
          </a:prstGeom>
          <a:noFill/>
          <a:ln/>
        </p:spPr>
        <p:txBody>
          <a:bodyPr wrap="square" lIns="0" tIns="0" rIns="0" bIns="0" rtlCol="0" anchor="ctr"/>
          <a:lstStyle/>
          <a:p>
            <a:pPr marL="0" indent="0">
              <a:lnSpc>
                <a:spcPts val="1100"/>
              </a:lnSpc>
              <a:buNone/>
            </a:pPr>
            <a:r>
              <a:rPr lang="en-US" sz="900" b="1" dirty="0">
                <a:solidFill>
                  <a:srgbClr val="E8833A"/>
                </a:solidFill>
                <a:latin typeface="Calibri" pitchFamily="34" charset="0"/>
                <a:ea typeface="Calibri" pitchFamily="34" charset="-122"/>
                <a:cs typeface="Calibri" pitchFamily="34" charset="-120"/>
              </a:rPr>
              <a:t>projected trajectory</a:t>
            </a:r>
            <a:endParaRPr lang="en-US" sz="900" dirty="0"/>
          </a:p>
          <a:p>
            <a:pPr marL="0" indent="0">
              <a:lnSpc>
                <a:spcPts val="1100"/>
              </a:lnSpc>
              <a:buNone/>
            </a:pPr>
            <a:r>
              <a:rPr lang="en-US" sz="900" b="1" dirty="0">
                <a:solidFill>
                  <a:srgbClr val="E8833A"/>
                </a:solidFill>
                <a:latin typeface="Calibri" pitchFamily="34" charset="0"/>
                <a:ea typeface="Calibri" pitchFamily="34" charset="-122"/>
                <a:cs typeface="Calibri" pitchFamily="34" charset="-120"/>
              </a:rPr>
              <a:t>= blur kernel</a:t>
            </a:r>
            <a:endParaRPr lang="en-US" sz="900" dirty="0"/>
          </a:p>
        </p:txBody>
      </p:sp>
      <p:sp>
        <p:nvSpPr>
          <p:cNvPr id="25" name="Text 23"/>
          <p:cNvSpPr txBox="1"/>
          <p:nvPr/>
        </p:nvSpPr>
        <p:spPr>
          <a:xfrm>
            <a:off x="7818120" y="1325880"/>
            <a:ext cx="2194560" cy="219456"/>
          </a:xfrm>
          <a:prstGeom prst="rect">
            <a:avLst/>
          </a:prstGeom>
          <a:noFill/>
          <a:ln/>
        </p:spPr>
        <p:txBody>
          <a:bodyPr wrap="square" lIns="0" tIns="0" rIns="0" bIns="0" rtlCol="0" anchor="ctr"/>
          <a:lstStyle/>
          <a:p>
            <a:pPr marL="0" indent="0">
              <a:buNone/>
            </a:pPr>
            <a:r>
              <a:rPr lang="en-US" sz="950" i="1" dirty="0">
                <a:solidFill>
                  <a:srgbClr val="8A94A6"/>
                </a:solidFill>
                <a:latin typeface="Calibri" pitchFamily="34" charset="0"/>
                <a:ea typeface="Calibri" pitchFamily="34" charset="-122"/>
                <a:cs typeface="Calibri" pitchFamily="34" charset="-120"/>
              </a:rPr>
              <a:t>Lee &amp; Lee, CVPR 2013</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155680" cy="548640"/>
          </a:xfrm>
          <a:prstGeom prst="rect">
            <a:avLst/>
          </a:prstGeom>
          <a:noFill/>
          <a:ln/>
        </p:spPr>
        <p:txBody>
          <a:bodyPr wrap="square" lIns="0" tIns="0" rIns="0" bIns="0" rtlCol="0" anchor="ctr"/>
          <a:lstStyle/>
          <a:p>
            <a:pPr marL="0" indent="0">
              <a:buNone/>
            </a:pPr>
            <a:r>
              <a:rPr lang="en-US" sz="2400" b="1" dirty="0">
                <a:solidFill>
                  <a:srgbClr val="1B2430"/>
                </a:solidFill>
                <a:latin typeface="Cambria" pitchFamily="34" charset="0"/>
                <a:ea typeface="Cambria" pitchFamily="34" charset="-122"/>
                <a:cs typeface="Cambria" pitchFamily="34" charset="-120"/>
              </a:rPr>
              <a:t>Photometric rankings flip — where the geometry fails is unknown</a:t>
            </a:r>
            <a:endParaRPr lang="en-US" sz="2400" dirty="0"/>
          </a:p>
        </p:txBody>
      </p:sp>
      <p:graphicFrame>
        <p:nvGraphicFramePr>
          <p:cNvPr id="3" name="Chart 0"/>
          <p:cNvGraphicFramePr/>
          <p:nvPr/>
        </p:nvGraphicFramePr>
        <p:xfrm>
          <a:off x="411480" y="1143000"/>
          <a:ext cx="649224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269480" y="1207008"/>
            <a:ext cx="365760" cy="365760"/>
          </a:xfrm>
          <a:prstGeom prst="ellipse">
            <a:avLst/>
          </a:prstGeom>
          <a:solidFill>
            <a:srgbClr val="E8833A"/>
          </a:solidFill>
          <a:ln/>
        </p:spPr>
        <p:txBody>
          <a:bodyPr/>
          <a:lstStyle/>
          <a:p>
            <a:endParaRPr lang="en-IN"/>
          </a:p>
        </p:txBody>
      </p:sp>
      <p:sp>
        <p:nvSpPr>
          <p:cNvPr id="5" name="Text 2"/>
          <p:cNvSpPr txBox="1"/>
          <p:nvPr/>
        </p:nvSpPr>
        <p:spPr>
          <a:xfrm>
            <a:off x="7269480" y="12070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3"/>
          <p:cNvSpPr txBox="1"/>
          <p:nvPr/>
        </p:nvSpPr>
        <p:spPr>
          <a:xfrm>
            <a:off x="7790688" y="1170432"/>
            <a:ext cx="3931920" cy="457200"/>
          </a:xfrm>
          <a:prstGeom prst="rect">
            <a:avLst/>
          </a:prstGeom>
          <a:noFill/>
          <a:ln/>
        </p:spPr>
        <p:txBody>
          <a:bodyPr wrap="square" lIns="0" tIns="0" rIns="0" bIns="0" rtlCol="0" anchor="ctr"/>
          <a:lstStyle/>
          <a:p>
            <a:pPr marL="0" indent="0">
              <a:lnSpc>
                <a:spcPts val="1700"/>
              </a:lnSpc>
              <a:buNone/>
            </a:pPr>
            <a:r>
              <a:rPr lang="en-US" sz="1400" b="1" dirty="0">
                <a:solidFill>
                  <a:srgbClr val="1B2430"/>
                </a:solidFill>
                <a:latin typeface="Calibri" pitchFamily="34" charset="0"/>
                <a:ea typeface="Calibri" pitchFamily="34" charset="-122"/>
                <a:cs typeface="Calibri" pitchFamily="34" charset="-120"/>
              </a:rPr>
              <a:t>The ranking inverts</a:t>
            </a:r>
            <a:endParaRPr lang="en-US" sz="1400" dirty="0"/>
          </a:p>
        </p:txBody>
      </p:sp>
      <p:sp>
        <p:nvSpPr>
          <p:cNvPr id="7" name="Text 4"/>
          <p:cNvSpPr txBox="1"/>
          <p:nvPr/>
        </p:nvSpPr>
        <p:spPr>
          <a:xfrm>
            <a:off x="7790688" y="1609344"/>
            <a:ext cx="3931920" cy="868680"/>
          </a:xfrm>
          <a:prstGeom prst="rect">
            <a:avLst/>
          </a:prstGeom>
          <a:noFill/>
          <a:ln/>
        </p:spPr>
        <p:txBody>
          <a:bodyPr wrap="square" lIns="0" tIns="0" rIns="0" bIns="0" rtlCol="0" anchor="ctr"/>
          <a:lstStyle/>
          <a:p>
            <a:pPr marL="0" indent="0">
              <a:lnSpc>
                <a:spcPts val="1450"/>
              </a:lnSpc>
              <a:buNone/>
            </a:pPr>
            <a:r>
              <a:rPr lang="en-US" sz="1100" dirty="0">
                <a:solidFill>
                  <a:srgbClr val="5B6675"/>
                </a:solidFill>
                <a:latin typeface="Calibri" pitchFamily="34" charset="0"/>
                <a:ea typeface="Calibri" pitchFamily="34" charset="-122"/>
                <a:cs typeface="Calibri" pitchFamily="34" charset="-120"/>
              </a:rPr>
              <a:t>Deblurring-3DGS leads under motion blur, then drops below vanilla 3DGS under defocus. BAGS does the exact opposite. No blur-aware method dominates.</a:t>
            </a:r>
            <a:endParaRPr lang="en-US" sz="1100" dirty="0"/>
          </a:p>
        </p:txBody>
      </p:sp>
      <p:sp>
        <p:nvSpPr>
          <p:cNvPr id="8" name="Shape 5"/>
          <p:cNvSpPr/>
          <p:nvPr/>
        </p:nvSpPr>
        <p:spPr>
          <a:xfrm>
            <a:off x="7269480" y="2423160"/>
            <a:ext cx="365760" cy="365760"/>
          </a:xfrm>
          <a:prstGeom prst="ellipse">
            <a:avLst/>
          </a:prstGeom>
          <a:solidFill>
            <a:srgbClr val="E8833A"/>
          </a:solidFill>
          <a:ln/>
        </p:spPr>
        <p:txBody>
          <a:bodyPr/>
          <a:lstStyle/>
          <a:p>
            <a:endParaRPr lang="en-IN"/>
          </a:p>
        </p:txBody>
      </p:sp>
      <p:sp>
        <p:nvSpPr>
          <p:cNvPr id="9" name="Text 6"/>
          <p:cNvSpPr txBox="1"/>
          <p:nvPr/>
        </p:nvSpPr>
        <p:spPr>
          <a:xfrm>
            <a:off x="7269480" y="24231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7790688" y="2386584"/>
            <a:ext cx="3931920" cy="457200"/>
          </a:xfrm>
          <a:prstGeom prst="rect">
            <a:avLst/>
          </a:prstGeom>
          <a:noFill/>
          <a:ln/>
        </p:spPr>
        <p:txBody>
          <a:bodyPr wrap="square" lIns="0" tIns="0" rIns="0" bIns="0" rtlCol="0" anchor="ctr"/>
          <a:lstStyle/>
          <a:p>
            <a:pPr marL="0" indent="0">
              <a:lnSpc>
                <a:spcPts val="1700"/>
              </a:lnSpc>
              <a:buNone/>
            </a:pPr>
            <a:r>
              <a:rPr lang="en-US" sz="1400" b="1" dirty="0">
                <a:solidFill>
                  <a:srgbClr val="1B2430"/>
                </a:solidFill>
                <a:latin typeface="Calibri" pitchFamily="34" charset="0"/>
                <a:ea typeface="Calibri" pitchFamily="34" charset="-122"/>
                <a:cs typeface="Calibri" pitchFamily="34" charset="-120"/>
              </a:rPr>
              <a:t>Vanilla 3DGS stays competitive</a:t>
            </a:r>
            <a:endParaRPr lang="en-US" sz="1400" dirty="0"/>
          </a:p>
        </p:txBody>
      </p:sp>
      <p:sp>
        <p:nvSpPr>
          <p:cNvPr id="11" name="Text 8"/>
          <p:cNvSpPr txBox="1"/>
          <p:nvPr/>
        </p:nvSpPr>
        <p:spPr>
          <a:xfrm>
            <a:off x="7790688" y="2825496"/>
            <a:ext cx="3931920" cy="868680"/>
          </a:xfrm>
          <a:prstGeom prst="rect">
            <a:avLst/>
          </a:prstGeom>
          <a:noFill/>
          <a:ln/>
        </p:spPr>
        <p:txBody>
          <a:bodyPr wrap="square" lIns="0" tIns="0" rIns="0" bIns="0" rtlCol="0" anchor="ctr"/>
          <a:lstStyle/>
          <a:p>
            <a:pPr marL="0" indent="0">
              <a:lnSpc>
                <a:spcPts val="1450"/>
              </a:lnSpc>
              <a:buNone/>
            </a:pPr>
            <a:r>
              <a:rPr lang="en-US" sz="1100" dirty="0">
                <a:solidFill>
                  <a:srgbClr val="5B6675"/>
                </a:solidFill>
                <a:latin typeface="Calibri" pitchFamily="34" charset="0"/>
                <a:ea typeface="Calibri" pitchFamily="34" charset="-122"/>
                <a:cs typeface="Calibri" pitchFamily="34" charset="-120"/>
              </a:rPr>
              <a:t>Under strong defocus the blur-unaware baseline (20.83) beats four of the five blur-aware methods — only BAGS is higher, at 21.01.</a:t>
            </a:r>
            <a:endParaRPr lang="en-US" sz="1100" dirty="0"/>
          </a:p>
        </p:txBody>
      </p:sp>
      <p:sp>
        <p:nvSpPr>
          <p:cNvPr id="12" name="Shape 9"/>
          <p:cNvSpPr/>
          <p:nvPr/>
        </p:nvSpPr>
        <p:spPr>
          <a:xfrm>
            <a:off x="7269480" y="3639312"/>
            <a:ext cx="365760" cy="365760"/>
          </a:xfrm>
          <a:prstGeom prst="ellipse">
            <a:avLst/>
          </a:prstGeom>
          <a:solidFill>
            <a:srgbClr val="E8833A"/>
          </a:solidFill>
          <a:ln/>
        </p:spPr>
        <p:txBody>
          <a:bodyPr/>
          <a:lstStyle/>
          <a:p>
            <a:endParaRPr lang="en-IN"/>
          </a:p>
        </p:txBody>
      </p:sp>
      <p:sp>
        <p:nvSpPr>
          <p:cNvPr id="13" name="Text 10"/>
          <p:cNvSpPr txBox="1"/>
          <p:nvPr/>
        </p:nvSpPr>
        <p:spPr>
          <a:xfrm>
            <a:off x="7269480" y="36393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1"/>
          <p:cNvSpPr txBox="1"/>
          <p:nvPr/>
        </p:nvSpPr>
        <p:spPr>
          <a:xfrm>
            <a:off x="7790688" y="3602736"/>
            <a:ext cx="3931920" cy="457200"/>
          </a:xfrm>
          <a:prstGeom prst="rect">
            <a:avLst/>
          </a:prstGeom>
          <a:noFill/>
          <a:ln/>
        </p:spPr>
        <p:txBody>
          <a:bodyPr wrap="square" lIns="0" tIns="0" rIns="0" bIns="0" rtlCol="0" anchor="ctr"/>
          <a:lstStyle/>
          <a:p>
            <a:pPr marL="0" indent="0">
              <a:lnSpc>
                <a:spcPts val="1700"/>
              </a:lnSpc>
              <a:buNone/>
            </a:pPr>
            <a:r>
              <a:rPr lang="en-US" sz="1400" b="1" dirty="0">
                <a:solidFill>
                  <a:srgbClr val="1B2430"/>
                </a:solidFill>
                <a:latin typeface="Calibri" pitchFamily="34" charset="0"/>
                <a:ea typeface="Calibri" pitchFamily="34" charset="-122"/>
                <a:cs typeface="Calibri" pitchFamily="34" charset="-120"/>
              </a:rPr>
              <a:t>Geometry is measured — but not for these methods</a:t>
            </a:r>
            <a:endParaRPr lang="en-US" sz="1400" dirty="0"/>
          </a:p>
        </p:txBody>
      </p:sp>
      <p:sp>
        <p:nvSpPr>
          <p:cNvPr id="15" name="Text 12"/>
          <p:cNvSpPr txBox="1"/>
          <p:nvPr/>
        </p:nvSpPr>
        <p:spPr>
          <a:xfrm>
            <a:off x="7790688" y="4041648"/>
            <a:ext cx="3931920" cy="868680"/>
          </a:xfrm>
          <a:prstGeom prst="rect">
            <a:avLst/>
          </a:prstGeom>
          <a:noFill/>
          <a:ln/>
        </p:spPr>
        <p:txBody>
          <a:bodyPr wrap="square" lIns="0" tIns="0" rIns="0" bIns="0" rtlCol="0" anchor="ctr"/>
          <a:lstStyle/>
          <a:p>
            <a:pPr marL="0" indent="0">
              <a:lnSpc>
                <a:spcPts val="1450"/>
              </a:lnSpc>
              <a:buNone/>
            </a:pPr>
            <a:r>
              <a:rPr lang="en-US" sz="1100" dirty="0">
                <a:solidFill>
                  <a:srgbClr val="5B6675"/>
                </a:solidFill>
                <a:latin typeface="Calibri" pitchFamily="34" charset="0"/>
                <a:ea typeface="Calibri" pitchFamily="34" charset="-122"/>
                <a:cs typeface="Calibri" pitchFamily="34" charset="-120"/>
              </a:rPr>
              <a:t>RealX3D has laser-scanned ground truth, yet reports accuracy, completeness and F-score only for feed-forward models. These six are scored on PSNR / SSIM / LPIPS alone.</a:t>
            </a:r>
            <a:endParaRPr lang="en-US" sz="1100" dirty="0"/>
          </a:p>
        </p:txBody>
      </p:sp>
      <p:sp>
        <p:nvSpPr>
          <p:cNvPr id="16" name="Shape 13"/>
          <p:cNvSpPr/>
          <p:nvPr/>
        </p:nvSpPr>
        <p:spPr>
          <a:xfrm>
            <a:off x="411480" y="4956048"/>
            <a:ext cx="11292840" cy="914400"/>
          </a:xfrm>
          <a:prstGeom prst="roundRect">
            <a:avLst>
              <a:gd name="adj" fmla="val 8000"/>
            </a:avLst>
          </a:prstGeom>
          <a:solidFill>
            <a:srgbClr val="F2F5F7"/>
          </a:solidFill>
          <a:ln/>
        </p:spPr>
        <p:txBody>
          <a:bodyPr/>
          <a:lstStyle/>
          <a:p>
            <a:endParaRPr lang="en-IN"/>
          </a:p>
        </p:txBody>
      </p:sp>
      <p:sp>
        <p:nvSpPr>
          <p:cNvPr id="17" name="Text 14"/>
          <p:cNvSpPr txBox="1"/>
          <p:nvPr/>
        </p:nvSpPr>
        <p:spPr>
          <a:xfrm>
            <a:off x="685800" y="5084064"/>
            <a:ext cx="1828800" cy="228600"/>
          </a:xfrm>
          <a:prstGeom prst="rect">
            <a:avLst/>
          </a:prstGeom>
          <a:noFill/>
          <a:ln/>
        </p:spPr>
        <p:txBody>
          <a:bodyPr wrap="square" lIns="0" tIns="0" rIns="0" bIns="0" rtlCol="0" anchor="ctr"/>
          <a:lstStyle/>
          <a:p>
            <a:pPr marL="0" indent="0">
              <a:buNone/>
            </a:pPr>
            <a:r>
              <a:rPr lang="en-US" sz="1000" b="1" kern="0" spc="110" dirty="0">
                <a:solidFill>
                  <a:srgbClr val="E8833A"/>
                </a:solidFill>
                <a:latin typeface="Calibri" pitchFamily="34" charset="0"/>
                <a:ea typeface="Calibri" pitchFamily="34" charset="-122"/>
                <a:cs typeface="Calibri" pitchFamily="34" charset="-120"/>
              </a:rPr>
              <a:t>OUR QUESTIONS</a:t>
            </a:r>
            <a:endParaRPr lang="en-US" sz="1000" dirty="0"/>
          </a:p>
        </p:txBody>
      </p:sp>
      <p:sp>
        <p:nvSpPr>
          <p:cNvPr id="18" name="Text 15"/>
          <p:cNvSpPr txBox="1"/>
          <p:nvPr/>
        </p:nvSpPr>
        <p:spPr>
          <a:xfrm>
            <a:off x="2606040" y="5065776"/>
            <a:ext cx="8869680" cy="292608"/>
          </a:xfrm>
          <a:prstGeom prst="rect">
            <a:avLst/>
          </a:prstGeom>
          <a:noFill/>
          <a:ln/>
        </p:spPr>
        <p:txBody>
          <a:bodyPr wrap="square" lIns="0" tIns="0" rIns="0" bIns="0"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Q1 — Diagnosis:  </a:t>
            </a:r>
            <a:r>
              <a:rPr lang="en-US" sz="1150" dirty="0">
                <a:solidFill>
                  <a:srgbClr val="5B6675"/>
                </a:solidFill>
                <a:latin typeface="Calibri" pitchFamily="34" charset="0"/>
                <a:ea typeface="Calibri" pitchFamily="34" charset="-122"/>
                <a:cs typeface="Calibri" pitchFamily="34" charset="-120"/>
              </a:rPr>
              <a:t>does the ranking of blur-aware 3DGS methods change when error is scored per structural stratum rather than per scene?</a:t>
            </a:r>
            <a:endParaRPr lang="en-US" sz="1150" dirty="0"/>
          </a:p>
        </p:txBody>
      </p:sp>
      <p:sp>
        <p:nvSpPr>
          <p:cNvPr id="19" name="Text 16"/>
          <p:cNvSpPr txBox="1"/>
          <p:nvPr/>
        </p:nvSpPr>
        <p:spPr>
          <a:xfrm>
            <a:off x="2606040" y="5431536"/>
            <a:ext cx="8869680" cy="292608"/>
          </a:xfrm>
          <a:prstGeom prst="rect">
            <a:avLst/>
          </a:prstGeom>
          <a:noFill/>
          <a:ln/>
        </p:spPr>
        <p:txBody>
          <a:bodyPr wrap="square" lIns="0" tIns="0" rIns="0" bIns="0" rtlCol="0" anchor="ctr"/>
          <a:lstStyle/>
          <a:p>
            <a:pPr marL="0" indent="0">
              <a:buNone/>
            </a:pPr>
            <a:r>
              <a:rPr lang="en-US" sz="1150" b="1" dirty="0">
                <a:solidFill>
                  <a:srgbClr val="1B2430"/>
                </a:solidFill>
                <a:latin typeface="Calibri" pitchFamily="34" charset="0"/>
                <a:ea typeface="Calibri" pitchFamily="34" charset="-122"/>
                <a:cs typeface="Calibri" pitchFamily="34" charset="-120"/>
              </a:rPr>
              <a:t>Q2 — Intervention:  </a:t>
            </a:r>
            <a:r>
              <a:rPr lang="en-US" sz="1150" dirty="0">
                <a:solidFill>
                  <a:srgbClr val="5B6675"/>
                </a:solidFill>
                <a:latin typeface="Calibri" pitchFamily="34" charset="0"/>
                <a:ea typeface="Calibri" pitchFamily="34" charset="-122"/>
                <a:cs typeface="Calibri" pitchFamily="34" charset="-120"/>
              </a:rPr>
              <a:t>can a targeted change to primitive allocation recover the structures degradation destroys?</a:t>
            </a:r>
            <a:endParaRPr lang="en-US" sz="1150" dirty="0"/>
          </a:p>
        </p:txBody>
      </p:sp>
      <p:sp>
        <p:nvSpPr>
          <p:cNvPr id="20" name="Text 17"/>
          <p:cNvSpPr txBox="1"/>
          <p:nvPr/>
        </p:nvSpPr>
        <p:spPr>
          <a:xfrm>
            <a:off x="548640" y="6053328"/>
            <a:ext cx="11155680" cy="365760"/>
          </a:xfrm>
          <a:prstGeom prst="rect">
            <a:avLst/>
          </a:prstGeom>
          <a:noFill/>
          <a:ln/>
        </p:spPr>
        <p:txBody>
          <a:bodyPr wrap="square" lIns="0" tIns="0" rIns="0" bIns="0" rtlCol="0" anchor="ctr"/>
          <a:lstStyle/>
          <a:p>
            <a:pPr marL="0" indent="0">
              <a:lnSpc>
                <a:spcPts val="1300"/>
              </a:lnSpc>
              <a:buNone/>
            </a:pPr>
            <a:r>
              <a:rPr lang="en-US" sz="950" i="1" dirty="0">
                <a:solidFill>
                  <a:srgbClr val="5B6675"/>
                </a:solidFill>
                <a:latin typeface="Calibri" pitchFamily="34" charset="0"/>
                <a:ea typeface="Calibri" pitchFamily="34" charset="-122"/>
                <a:cs typeface="Calibri" pitchFamily="34" charset="-120"/>
              </a:rPr>
              <a:t>RealX3D (Liu et al., IJCV 2026) — physically captured degradation via a programmable rail: pixel-aligned degraded/reference pairs + laser-scanned ground truth. Six methods evaluated; blur subset = 8 scenes, two severities.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155680" cy="530352"/>
          </a:xfrm>
          <a:prstGeom prst="rect">
            <a:avLst/>
          </a:prstGeom>
          <a:noFill/>
          <a:ln/>
        </p:spPr>
        <p:txBody>
          <a:bodyPr wrap="square" lIns="0" tIns="0" rIns="0" bIns="0" rtlCol="0" anchor="ctr"/>
          <a:lstStyle/>
          <a:p>
            <a:pPr marL="0" indent="0">
              <a:buNone/>
            </a:pPr>
            <a:r>
              <a:rPr lang="en-US" sz="2400" b="1" dirty="0">
                <a:solidFill>
                  <a:srgbClr val="1B2430"/>
                </a:solidFill>
                <a:latin typeface="Cambria" pitchFamily="34" charset="0"/>
                <a:ea typeface="Cambria" pitchFamily="34" charset="-122"/>
                <a:cs typeface="Cambria" pitchFamily="34" charset="-120"/>
              </a:rPr>
              <a:t>Our approach: diagnose failure, then target densification</a:t>
            </a:r>
            <a:endParaRPr lang="en-US" sz="2400" dirty="0"/>
          </a:p>
        </p:txBody>
      </p:sp>
      <p:sp>
        <p:nvSpPr>
          <p:cNvPr id="3" name="Shape 1"/>
          <p:cNvSpPr/>
          <p:nvPr/>
        </p:nvSpPr>
        <p:spPr>
          <a:xfrm>
            <a:off x="548640" y="1170432"/>
            <a:ext cx="5349240" cy="3749040"/>
          </a:xfrm>
          <a:prstGeom prst="roundRect">
            <a:avLst>
              <a:gd name="adj" fmla="val 2439"/>
            </a:avLst>
          </a:prstGeom>
          <a:solidFill>
            <a:srgbClr val="F2F5F7"/>
          </a:solidFill>
          <a:ln/>
          <a:effectLst>
            <a:outerShdw blurRad="127000" dist="25400" dir="5400000" algn="bl" rotWithShape="0">
              <a:srgbClr val="9AA5B1">
                <a:alpha val="20000"/>
              </a:srgbClr>
            </a:outerShdw>
          </a:effectLst>
        </p:spPr>
        <p:txBody>
          <a:bodyPr/>
          <a:lstStyle/>
          <a:p>
            <a:endParaRPr lang="en-IN"/>
          </a:p>
        </p:txBody>
      </p:sp>
      <p:sp>
        <p:nvSpPr>
          <p:cNvPr id="4" name="Shape 2"/>
          <p:cNvSpPr/>
          <p:nvPr/>
        </p:nvSpPr>
        <p:spPr>
          <a:xfrm>
            <a:off x="868680" y="1444752"/>
            <a:ext cx="438912" cy="438912"/>
          </a:xfrm>
          <a:prstGeom prst="ellipse">
            <a:avLst/>
          </a:prstGeom>
          <a:solidFill>
            <a:srgbClr val="2E7D8F"/>
          </a:solidFill>
          <a:ln/>
        </p:spPr>
        <p:txBody>
          <a:bodyPr/>
          <a:lstStyle/>
          <a:p>
            <a:endParaRPr lang="en-IN"/>
          </a:p>
        </p:txBody>
      </p:sp>
      <p:sp>
        <p:nvSpPr>
          <p:cNvPr id="5" name="Text 3"/>
          <p:cNvSpPr txBox="1"/>
          <p:nvPr/>
        </p:nvSpPr>
        <p:spPr>
          <a:xfrm>
            <a:off x="868680" y="144475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44752" y="1463040"/>
            <a:ext cx="4206240" cy="411480"/>
          </a:xfrm>
          <a:prstGeom prst="rect">
            <a:avLst/>
          </a:prstGeom>
          <a:noFill/>
          <a:ln/>
        </p:spPr>
        <p:txBody>
          <a:bodyPr wrap="square" lIns="0" tIns="0" rIns="0" bIns="0" rtlCol="0" anchor="ctr"/>
          <a:lstStyle/>
          <a:p>
            <a:pPr marL="0" indent="0">
              <a:lnSpc>
                <a:spcPts val="1800"/>
              </a:lnSpc>
              <a:buNone/>
            </a:pPr>
            <a:r>
              <a:rPr lang="en-US" sz="1550" b="1" dirty="0">
                <a:solidFill>
                  <a:srgbClr val="1B2430"/>
                </a:solidFill>
                <a:latin typeface="Calibri" pitchFamily="34" charset="0"/>
                <a:ea typeface="Calibri" pitchFamily="34" charset="-122"/>
                <a:cs typeface="Calibri" pitchFamily="34" charset="-120"/>
              </a:rPr>
              <a:t>Diagnose  ·  stratified geometric evaluation</a:t>
            </a:r>
            <a:endParaRPr lang="en-US" sz="1550" dirty="0"/>
          </a:p>
        </p:txBody>
      </p:sp>
      <p:sp>
        <p:nvSpPr>
          <p:cNvPr id="7" name="Text 5"/>
          <p:cNvSpPr txBox="1"/>
          <p:nvPr/>
        </p:nvSpPr>
        <p:spPr>
          <a:xfrm>
            <a:off x="914400" y="2029968"/>
            <a:ext cx="4663440" cy="274320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Partition the laser-scanned ground truth along two structural axes — local curvature (neighbourhood surface variation) and surface proximity (distance to the nearest independent surface). Local thickness via SDF is conditional on the mesh passing watertightness checks.</a:t>
            </a:r>
            <a:endParaRPr lang="en-US" sz="1100" dirty="0"/>
          </a:p>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Quantile-bin each axis into three strata and analyse them marginally, rather than as a sparsely populated 27-cell joint partition.</a:t>
            </a:r>
            <a:endParaRPr lang="en-US" sz="1100" dirty="0"/>
          </a:p>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Convert every reconstruction to a point cloud by one identical procedure — render depth from training views and fuse back-projected points. Never read Gaussian centres: they reflect primitive placement, not the reconstructed surface.</a:t>
            </a:r>
            <a:endParaRPr lang="en-US" sz="1100" dirty="0"/>
          </a:p>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Report accuracy, completeness and F-score per stratum, ICP-aligned per RealX3D's protocol.</a:t>
            </a:r>
            <a:endParaRPr lang="en-US" sz="1100" dirty="0"/>
          </a:p>
        </p:txBody>
      </p:sp>
      <p:sp>
        <p:nvSpPr>
          <p:cNvPr id="8" name="Shape 6"/>
          <p:cNvSpPr/>
          <p:nvPr/>
        </p:nvSpPr>
        <p:spPr>
          <a:xfrm>
            <a:off x="6263640" y="1170432"/>
            <a:ext cx="5349240" cy="3749040"/>
          </a:xfrm>
          <a:prstGeom prst="roundRect">
            <a:avLst>
              <a:gd name="adj" fmla="val 2439"/>
            </a:avLst>
          </a:prstGeom>
          <a:solidFill>
            <a:srgbClr val="F2F5F7"/>
          </a:solidFill>
          <a:ln/>
          <a:effectLst>
            <a:outerShdw blurRad="127000" dist="25400" dir="5400000" algn="bl" rotWithShape="0">
              <a:srgbClr val="9AA5B1">
                <a:alpha val="20000"/>
              </a:srgbClr>
            </a:outerShdw>
          </a:effectLst>
        </p:spPr>
        <p:txBody>
          <a:bodyPr/>
          <a:lstStyle/>
          <a:p>
            <a:endParaRPr lang="en-IN"/>
          </a:p>
        </p:txBody>
      </p:sp>
      <p:sp>
        <p:nvSpPr>
          <p:cNvPr id="9" name="Shape 7"/>
          <p:cNvSpPr/>
          <p:nvPr/>
        </p:nvSpPr>
        <p:spPr>
          <a:xfrm>
            <a:off x="6583680" y="1444752"/>
            <a:ext cx="438912" cy="438912"/>
          </a:xfrm>
          <a:prstGeom prst="ellipse">
            <a:avLst/>
          </a:prstGeom>
          <a:solidFill>
            <a:srgbClr val="E8833A"/>
          </a:solidFill>
          <a:ln/>
        </p:spPr>
        <p:txBody>
          <a:bodyPr/>
          <a:lstStyle/>
          <a:p>
            <a:endParaRPr lang="en-IN"/>
          </a:p>
        </p:txBody>
      </p:sp>
      <p:sp>
        <p:nvSpPr>
          <p:cNvPr id="10" name="Text 8"/>
          <p:cNvSpPr txBox="1"/>
          <p:nvPr/>
        </p:nvSpPr>
        <p:spPr>
          <a:xfrm>
            <a:off x="6583680" y="144475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7159752" y="1463040"/>
            <a:ext cx="4206240" cy="411480"/>
          </a:xfrm>
          <a:prstGeom prst="rect">
            <a:avLst/>
          </a:prstGeom>
          <a:noFill/>
          <a:ln/>
        </p:spPr>
        <p:txBody>
          <a:bodyPr wrap="square" lIns="0" tIns="0" rIns="0" bIns="0" rtlCol="0" anchor="ctr"/>
          <a:lstStyle/>
          <a:p>
            <a:pPr marL="0" indent="0">
              <a:lnSpc>
                <a:spcPts val="1800"/>
              </a:lnSpc>
              <a:buNone/>
            </a:pPr>
            <a:r>
              <a:rPr lang="en-US" sz="1550" b="1" dirty="0">
                <a:solidFill>
                  <a:srgbClr val="1B2430"/>
                </a:solidFill>
                <a:latin typeface="Calibri" pitchFamily="34" charset="0"/>
                <a:ea typeface="Calibri" pitchFamily="34" charset="-122"/>
                <a:cs typeface="Calibri" pitchFamily="34" charset="-120"/>
              </a:rPr>
              <a:t>Target  ·  structure-aware densification</a:t>
            </a:r>
            <a:endParaRPr lang="en-US" sz="1550" dirty="0"/>
          </a:p>
        </p:txBody>
      </p:sp>
      <p:sp>
        <p:nvSpPr>
          <p:cNvPr id="12" name="Text 10"/>
          <p:cNvSpPr txBox="1"/>
          <p:nvPr/>
        </p:nvSpPr>
        <p:spPr>
          <a:xfrm>
            <a:off x="6629400" y="2029968"/>
            <a:ext cx="4663440" cy="274320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Mechanism: vanilla 3DGS clones or splits a Gaussian when its iteration-averaged view-space positional gradient exceeds a fixed threshold.</a:t>
            </a:r>
            <a:endParaRPr lang="en-US" sz="1100" dirty="0"/>
          </a:p>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Hypothesis: blur attenuates high-frequency content and so weakens that gradient signal, which may leave thin and high-curvature regions under-densified while large textured surfaces keep accumulating primitives. Stage 1 tests whether those regions do show larger geometric error.</a:t>
            </a:r>
            <a:endParaRPr lang="en-US" sz="1100" dirty="0"/>
          </a:p>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Factor (i): use a per-view sharpness estimate as a reliability weight when aggregating densification gradients, so heavily blurred views do not dilute the statistic. The exact weighting is chosen by ablation.</a:t>
            </a:r>
            <a:endParaRPr lang="en-US" sz="1100" dirty="0"/>
          </a:p>
          <a:p>
            <a:pPr marL="342900" indent="-342900">
              <a:lnSpc>
                <a:spcPts val="1500"/>
              </a:lnSpc>
              <a:spcAft>
                <a:spcPts val="600"/>
              </a:spcAft>
              <a:buSzPct val="100000"/>
              <a:buChar char="•"/>
            </a:pPr>
            <a:r>
              <a:rPr lang="en-US" sz="1100" dirty="0">
                <a:solidFill>
                  <a:srgbClr val="5B6675"/>
                </a:solidFill>
                <a:latin typeface="Calibri" pitchFamily="34" charset="0"/>
                <a:ea typeface="Calibri" pitchFamily="34" charset="-122"/>
                <a:cs typeface="Calibri" pitchFamily="34" charset="-120"/>
              </a:rPr>
              <a:t>Factor (ii): lower the effective threshold where reconstruction-time signals indicate structurally fragile geometry. A decision rule inside an existing 3DGS implementation — no new network. Benchmarked against vanilla ADC and MCMC densification.</a:t>
            </a:r>
            <a:endParaRPr lang="en-US" sz="1100" dirty="0"/>
          </a:p>
        </p:txBody>
      </p:sp>
      <p:sp>
        <p:nvSpPr>
          <p:cNvPr id="13" name="Shape 11"/>
          <p:cNvSpPr/>
          <p:nvPr/>
        </p:nvSpPr>
        <p:spPr>
          <a:xfrm>
            <a:off x="548640" y="5074920"/>
            <a:ext cx="11064240" cy="566928"/>
          </a:xfrm>
          <a:prstGeom prst="roundRect">
            <a:avLst>
              <a:gd name="adj" fmla="val 12903"/>
            </a:avLst>
          </a:prstGeom>
          <a:solidFill>
            <a:srgbClr val="FDF1E7"/>
          </a:solidFill>
          <a:ln/>
        </p:spPr>
        <p:txBody>
          <a:bodyPr/>
          <a:lstStyle/>
          <a:p>
            <a:endParaRPr lang="en-IN"/>
          </a:p>
        </p:txBody>
      </p:sp>
      <p:sp>
        <p:nvSpPr>
          <p:cNvPr id="14" name="Text 12"/>
          <p:cNvSpPr txBox="1"/>
          <p:nvPr/>
        </p:nvSpPr>
        <p:spPr>
          <a:xfrm>
            <a:off x="822960" y="5193792"/>
            <a:ext cx="10515600" cy="347472"/>
          </a:xfrm>
          <a:prstGeom prst="rect">
            <a:avLst/>
          </a:prstGeom>
          <a:noFill/>
          <a:ln/>
        </p:spPr>
        <p:txBody>
          <a:bodyPr wrap="square" lIns="0" tIns="0" rIns="0" bIns="0" rtlCol="0" anchor="ctr"/>
          <a:lstStyle/>
          <a:p>
            <a:pPr marL="0" indent="0">
              <a:lnSpc>
                <a:spcPts val="1500"/>
              </a:lnSpc>
              <a:buNone/>
            </a:pPr>
            <a:r>
              <a:rPr lang="en-US" sz="1150" b="1" dirty="0">
                <a:solidFill>
                  <a:srgbClr val="9A4F12"/>
                </a:solidFill>
                <a:latin typeface="Calibri" pitchFamily="34" charset="0"/>
                <a:ea typeface="Calibri" pitchFamily="34" charset="-122"/>
                <a:cs typeface="Calibri" pitchFamily="34" charset="-120"/>
              </a:rPr>
              <a:t>No leakage:  </a:t>
            </a:r>
            <a:r>
              <a:rPr lang="en-US" sz="1150" dirty="0">
                <a:solidFill>
                  <a:srgbClr val="1B2430"/>
                </a:solidFill>
                <a:latin typeface="Calibri" pitchFamily="34" charset="0"/>
                <a:ea typeface="Calibri" pitchFamily="34" charset="-122"/>
                <a:cs typeface="Calibri" pitchFamily="34" charset="-120"/>
              </a:rPr>
              <a:t>the laser-scanned ground truth is used for diagnosis and evaluation only. Stage 2 estimates structural fragility from the current reconstruction at training time — never from the ground-truth mesh.</a:t>
            </a:r>
            <a:endParaRPr lang="en-US" sz="1150" dirty="0"/>
          </a:p>
        </p:txBody>
      </p:sp>
      <p:sp>
        <p:nvSpPr>
          <p:cNvPr id="15" name="Text 13"/>
          <p:cNvSpPr txBox="1"/>
          <p:nvPr/>
        </p:nvSpPr>
        <p:spPr>
          <a:xfrm>
            <a:off x="548640" y="5779008"/>
            <a:ext cx="11064240" cy="658368"/>
          </a:xfrm>
          <a:prstGeom prst="rect">
            <a:avLst/>
          </a:prstGeom>
          <a:noFill/>
          <a:ln/>
        </p:spPr>
        <p:txBody>
          <a:bodyPr wrap="square" lIns="0" tIns="0" rIns="0" bIns="0" rtlCol="0" anchor="ctr"/>
          <a:lstStyle/>
          <a:p>
            <a:pPr marL="0" indent="0">
              <a:lnSpc>
                <a:spcPts val="1400"/>
              </a:lnSpc>
              <a:buNone/>
            </a:pPr>
            <a:r>
              <a:rPr lang="en-US" sz="1050" b="1" dirty="0">
                <a:solidFill>
                  <a:srgbClr val="1B2430"/>
                </a:solidFill>
                <a:latin typeface="Calibri" pitchFamily="34" charset="0"/>
                <a:ea typeface="Calibri" pitchFamily="34" charset="-122"/>
                <a:cs typeface="Calibri" pitchFamily="34" charset="-120"/>
              </a:rPr>
              <a:t>Positioning:  </a:t>
            </a:r>
            <a:r>
              <a:rPr lang="en-US" sz="1050" dirty="0">
                <a:solidFill>
                  <a:srgbClr val="5B6675"/>
                </a:solidFill>
                <a:latin typeface="Calibri" pitchFamily="34" charset="0"/>
                <a:ea typeface="Calibri" pitchFamily="34" charset="-122"/>
                <a:cs typeface="Calibri" pitchFamily="34" charset="-120"/>
              </a:rPr>
              <a:t>adaptive densification is not itself our novelty — per-view gradient weighting (Pixel-GS, AbsGS), curvature-aware densification (EA-3DGS) and depth-conditioned thresholds under motion blur (BSGS) already exist. We investigate whether combining blur reliability with structural fragility addresses the specific geometric failures diagnosed in Stage 1, validated against laser ground truth rather than PSNR.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C2E"/>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530352"/>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Evaluation: test geometry, not just appearance</a:t>
            </a:r>
            <a:endParaRPr lang="en-US" sz="2400" dirty="0"/>
          </a:p>
        </p:txBody>
      </p:sp>
      <p:sp>
        <p:nvSpPr>
          <p:cNvPr id="3" name="Shape 1"/>
          <p:cNvSpPr/>
          <p:nvPr/>
        </p:nvSpPr>
        <p:spPr>
          <a:xfrm>
            <a:off x="548640" y="1051560"/>
            <a:ext cx="2697480" cy="1371600"/>
          </a:xfrm>
          <a:prstGeom prst="roundRect">
            <a:avLst>
              <a:gd name="adj" fmla="val 5333"/>
            </a:avLst>
          </a:prstGeom>
          <a:solidFill>
            <a:srgbClr val="1D2B42"/>
          </a:solidFill>
          <a:ln/>
        </p:spPr>
        <p:txBody>
          <a:bodyPr/>
          <a:lstStyle/>
          <a:p>
            <a:endParaRPr lang="en-IN"/>
          </a:p>
        </p:txBody>
      </p:sp>
      <p:sp>
        <p:nvSpPr>
          <p:cNvPr id="4" name="Text 2"/>
          <p:cNvSpPr txBox="1"/>
          <p:nvPr/>
        </p:nvSpPr>
        <p:spPr>
          <a:xfrm>
            <a:off x="777240" y="1133856"/>
            <a:ext cx="2286000" cy="548640"/>
          </a:xfrm>
          <a:prstGeom prst="rect">
            <a:avLst/>
          </a:prstGeom>
          <a:noFill/>
          <a:ln/>
        </p:spPr>
        <p:txBody>
          <a:bodyPr wrap="square" lIns="0" tIns="0" rIns="0" bIns="0" rtlCol="0" anchor="ctr"/>
          <a:lstStyle/>
          <a:p>
            <a:pPr marL="0" indent="0">
              <a:buNone/>
            </a:pPr>
            <a:r>
              <a:rPr lang="en-US" sz="3200" b="1" dirty="0">
                <a:solidFill>
                  <a:srgbClr val="E8833A"/>
                </a:solidFill>
                <a:latin typeface="Cambria" pitchFamily="34" charset="0"/>
                <a:ea typeface="Cambria" pitchFamily="34" charset="-122"/>
                <a:cs typeface="Cambria" pitchFamily="34" charset="-120"/>
              </a:rPr>
              <a:t>8</a:t>
            </a:r>
            <a:endParaRPr lang="en-US" sz="3200" dirty="0"/>
          </a:p>
        </p:txBody>
      </p:sp>
      <p:sp>
        <p:nvSpPr>
          <p:cNvPr id="5" name="Text 3"/>
          <p:cNvSpPr txBox="1"/>
          <p:nvPr/>
        </p:nvSpPr>
        <p:spPr>
          <a:xfrm>
            <a:off x="777240" y="1719072"/>
            <a:ext cx="2331720" cy="621792"/>
          </a:xfrm>
          <a:prstGeom prst="rect">
            <a:avLst/>
          </a:prstGeom>
          <a:noFill/>
          <a:ln/>
        </p:spPr>
        <p:txBody>
          <a:bodyPr wrap="square" lIns="0" tIns="0" rIns="0" bIns="0" rtlCol="0" anchor="ctr"/>
          <a:lstStyle/>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scenes × {motion, defocus}</a:t>
            </a:r>
            <a:endParaRPr lang="en-US" sz="1000" dirty="0"/>
          </a:p>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 {mild, strong}</a:t>
            </a:r>
            <a:endParaRPr lang="en-US" sz="1000" dirty="0"/>
          </a:p>
        </p:txBody>
      </p:sp>
      <p:sp>
        <p:nvSpPr>
          <p:cNvPr id="6" name="Shape 4"/>
          <p:cNvSpPr/>
          <p:nvPr/>
        </p:nvSpPr>
        <p:spPr>
          <a:xfrm>
            <a:off x="3410712" y="1051560"/>
            <a:ext cx="2697480" cy="1371600"/>
          </a:xfrm>
          <a:prstGeom prst="roundRect">
            <a:avLst>
              <a:gd name="adj" fmla="val 5333"/>
            </a:avLst>
          </a:prstGeom>
          <a:solidFill>
            <a:srgbClr val="1D2B42"/>
          </a:solidFill>
          <a:ln/>
        </p:spPr>
        <p:txBody>
          <a:bodyPr/>
          <a:lstStyle/>
          <a:p>
            <a:endParaRPr lang="en-IN"/>
          </a:p>
        </p:txBody>
      </p:sp>
      <p:sp>
        <p:nvSpPr>
          <p:cNvPr id="7" name="Text 5"/>
          <p:cNvSpPr txBox="1"/>
          <p:nvPr/>
        </p:nvSpPr>
        <p:spPr>
          <a:xfrm>
            <a:off x="3639312" y="1133856"/>
            <a:ext cx="2286000" cy="548640"/>
          </a:xfrm>
          <a:prstGeom prst="rect">
            <a:avLst/>
          </a:prstGeom>
          <a:noFill/>
          <a:ln/>
        </p:spPr>
        <p:txBody>
          <a:bodyPr wrap="square" lIns="0" tIns="0" rIns="0" bIns="0" rtlCol="0" anchor="ctr"/>
          <a:lstStyle/>
          <a:p>
            <a:pPr marL="0" indent="0">
              <a:buNone/>
            </a:pPr>
            <a:r>
              <a:rPr lang="en-US" sz="3200" b="1" dirty="0">
                <a:solidFill>
                  <a:srgbClr val="E8833A"/>
                </a:solidFill>
                <a:latin typeface="Cambria" pitchFamily="34" charset="0"/>
                <a:ea typeface="Cambria" pitchFamily="34" charset="-122"/>
                <a:cs typeface="Cambria" pitchFamily="34" charset="-120"/>
              </a:rPr>
              <a:t>4</a:t>
            </a:r>
            <a:endParaRPr lang="en-US" sz="3200" dirty="0"/>
          </a:p>
        </p:txBody>
      </p:sp>
      <p:sp>
        <p:nvSpPr>
          <p:cNvPr id="8" name="Text 6"/>
          <p:cNvSpPr txBox="1"/>
          <p:nvPr/>
        </p:nvSpPr>
        <p:spPr>
          <a:xfrm>
            <a:off x="3639312" y="1719072"/>
            <a:ext cx="2331720" cy="621792"/>
          </a:xfrm>
          <a:prstGeom prst="rect">
            <a:avLst/>
          </a:prstGeom>
          <a:noFill/>
          <a:ln/>
        </p:spPr>
        <p:txBody>
          <a:bodyPr wrap="square" lIns="0" tIns="0" rIns="0" bIns="0" rtlCol="0" anchor="ctr"/>
          <a:lstStyle/>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core methods: 3DGS,</a:t>
            </a:r>
            <a:endParaRPr lang="en-US" sz="1000" dirty="0"/>
          </a:p>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Deblurring-3DGS, BAGS, ours</a:t>
            </a:r>
            <a:endParaRPr lang="en-US" sz="1000" dirty="0"/>
          </a:p>
        </p:txBody>
      </p:sp>
      <p:sp>
        <p:nvSpPr>
          <p:cNvPr id="9" name="Shape 7"/>
          <p:cNvSpPr/>
          <p:nvPr/>
        </p:nvSpPr>
        <p:spPr>
          <a:xfrm>
            <a:off x="6272784" y="1051560"/>
            <a:ext cx="2697480" cy="1371600"/>
          </a:xfrm>
          <a:prstGeom prst="roundRect">
            <a:avLst>
              <a:gd name="adj" fmla="val 5333"/>
            </a:avLst>
          </a:prstGeom>
          <a:solidFill>
            <a:srgbClr val="1D2B42"/>
          </a:solidFill>
          <a:ln/>
        </p:spPr>
        <p:txBody>
          <a:bodyPr/>
          <a:lstStyle/>
          <a:p>
            <a:endParaRPr lang="en-IN"/>
          </a:p>
        </p:txBody>
      </p:sp>
      <p:sp>
        <p:nvSpPr>
          <p:cNvPr id="10" name="Text 8"/>
          <p:cNvSpPr txBox="1"/>
          <p:nvPr/>
        </p:nvSpPr>
        <p:spPr>
          <a:xfrm>
            <a:off x="6501384" y="1133856"/>
            <a:ext cx="2286000" cy="548640"/>
          </a:xfrm>
          <a:prstGeom prst="rect">
            <a:avLst/>
          </a:prstGeom>
          <a:noFill/>
          <a:ln/>
        </p:spPr>
        <p:txBody>
          <a:bodyPr wrap="square" lIns="0" tIns="0" rIns="0" bIns="0" rtlCol="0" anchor="ctr"/>
          <a:lstStyle/>
          <a:p>
            <a:pPr marL="0" indent="0">
              <a:buNone/>
            </a:pPr>
            <a:r>
              <a:rPr lang="en-US" sz="3200" b="1" dirty="0">
                <a:solidFill>
                  <a:srgbClr val="E8833A"/>
                </a:solidFill>
                <a:latin typeface="Cambria" pitchFamily="34" charset="0"/>
                <a:ea typeface="Cambria" pitchFamily="34" charset="-122"/>
                <a:cs typeface="Cambria" pitchFamily="34" charset="-120"/>
              </a:rPr>
              <a:t>128</a:t>
            </a:r>
            <a:endParaRPr lang="en-US" sz="3200" dirty="0"/>
          </a:p>
        </p:txBody>
      </p:sp>
      <p:sp>
        <p:nvSpPr>
          <p:cNvPr id="11" name="Text 9"/>
          <p:cNvSpPr txBox="1"/>
          <p:nvPr/>
        </p:nvSpPr>
        <p:spPr>
          <a:xfrm>
            <a:off x="6501384" y="1719072"/>
            <a:ext cx="2331720" cy="621792"/>
          </a:xfrm>
          <a:prstGeom prst="rect">
            <a:avLst/>
          </a:prstGeom>
          <a:noFill/>
          <a:ln/>
        </p:spPr>
        <p:txBody>
          <a:bodyPr wrap="square" lIns="0" tIns="0" rIns="0" bIns="0" rtlCol="0" anchor="ctr"/>
          <a:lstStyle/>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degraded runs,</a:t>
            </a:r>
            <a:endParaRPr lang="en-US" sz="1000" dirty="0"/>
          </a:p>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plus clean controls</a:t>
            </a:r>
            <a:endParaRPr lang="en-US" sz="1000" dirty="0"/>
          </a:p>
        </p:txBody>
      </p:sp>
      <p:sp>
        <p:nvSpPr>
          <p:cNvPr id="12" name="Shape 10"/>
          <p:cNvSpPr/>
          <p:nvPr/>
        </p:nvSpPr>
        <p:spPr>
          <a:xfrm>
            <a:off x="9134856" y="1051560"/>
            <a:ext cx="2697480" cy="1371600"/>
          </a:xfrm>
          <a:prstGeom prst="roundRect">
            <a:avLst>
              <a:gd name="adj" fmla="val 5333"/>
            </a:avLst>
          </a:prstGeom>
          <a:solidFill>
            <a:srgbClr val="1D2B42"/>
          </a:solidFill>
          <a:ln/>
        </p:spPr>
        <p:txBody>
          <a:bodyPr/>
          <a:lstStyle/>
          <a:p>
            <a:endParaRPr lang="en-IN"/>
          </a:p>
        </p:txBody>
      </p:sp>
      <p:sp>
        <p:nvSpPr>
          <p:cNvPr id="13" name="Text 11"/>
          <p:cNvSpPr txBox="1"/>
          <p:nvPr/>
        </p:nvSpPr>
        <p:spPr>
          <a:xfrm>
            <a:off x="9363456" y="1133856"/>
            <a:ext cx="2286000" cy="548640"/>
          </a:xfrm>
          <a:prstGeom prst="rect">
            <a:avLst/>
          </a:prstGeom>
          <a:noFill/>
          <a:ln/>
        </p:spPr>
        <p:txBody>
          <a:bodyPr wrap="square" lIns="0" tIns="0" rIns="0" bIns="0" rtlCol="0" anchor="ctr"/>
          <a:lstStyle/>
          <a:p>
            <a:pPr marL="0" indent="0">
              <a:buNone/>
            </a:pPr>
            <a:r>
              <a:rPr lang="en-US" sz="3200" b="1" dirty="0">
                <a:solidFill>
                  <a:srgbClr val="E8833A"/>
                </a:solidFill>
                <a:latin typeface="Cambria" pitchFamily="34" charset="0"/>
                <a:ea typeface="Cambria" pitchFamily="34" charset="-122"/>
                <a:cs typeface="Cambria" pitchFamily="34" charset="-120"/>
              </a:rPr>
              <a:t>3</a:t>
            </a:r>
            <a:endParaRPr lang="en-US" sz="3200" dirty="0"/>
          </a:p>
        </p:txBody>
      </p:sp>
      <p:sp>
        <p:nvSpPr>
          <p:cNvPr id="14" name="Text 12"/>
          <p:cNvSpPr txBox="1"/>
          <p:nvPr/>
        </p:nvSpPr>
        <p:spPr>
          <a:xfrm>
            <a:off x="9363456" y="1719072"/>
            <a:ext cx="2331720" cy="621792"/>
          </a:xfrm>
          <a:prstGeom prst="rect">
            <a:avLst/>
          </a:prstGeom>
          <a:noFill/>
          <a:ln/>
        </p:spPr>
        <p:txBody>
          <a:bodyPr wrap="square" lIns="0" tIns="0" rIns="0" bIns="0" rtlCol="0" anchor="ctr"/>
          <a:lstStyle/>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geometric metrics: accuracy,</a:t>
            </a:r>
            <a:endParaRPr lang="en-US" sz="1000" dirty="0"/>
          </a:p>
          <a:p>
            <a:pPr marL="0" indent="0">
              <a:lnSpc>
                <a:spcPts val="1250"/>
              </a:lnSpc>
              <a:buNone/>
            </a:pPr>
            <a:r>
              <a:rPr lang="en-US" sz="1000" dirty="0">
                <a:solidFill>
                  <a:srgbClr val="C3CCD8"/>
                </a:solidFill>
                <a:latin typeface="Calibri" pitchFamily="34" charset="0"/>
                <a:ea typeface="Calibri" pitchFamily="34" charset="-122"/>
                <a:cs typeface="Calibri" pitchFamily="34" charset="-120"/>
              </a:rPr>
              <a:t>completeness, F-score</a:t>
            </a:r>
            <a:endParaRPr lang="en-US" sz="1000" dirty="0"/>
          </a:p>
        </p:txBody>
      </p:sp>
      <p:sp>
        <p:nvSpPr>
          <p:cNvPr id="15" name="Text 13"/>
          <p:cNvSpPr txBox="1"/>
          <p:nvPr/>
        </p:nvSpPr>
        <p:spPr>
          <a:xfrm>
            <a:off x="548640" y="2697480"/>
            <a:ext cx="3291840" cy="237744"/>
          </a:xfrm>
          <a:prstGeom prst="rect">
            <a:avLst/>
          </a:prstGeom>
          <a:noFill/>
          <a:ln/>
        </p:spPr>
        <p:txBody>
          <a:bodyPr wrap="square" lIns="0" tIns="0" rIns="0" bIns="0" rtlCol="0" anchor="ctr"/>
          <a:lstStyle/>
          <a:p>
            <a:pPr marL="0" indent="0">
              <a:buNone/>
            </a:pPr>
            <a:r>
              <a:rPr lang="en-US" sz="1050" b="1" kern="0" spc="110" dirty="0">
                <a:solidFill>
                  <a:srgbClr val="E8833A"/>
                </a:solidFill>
                <a:latin typeface="Calibri" pitchFamily="34" charset="0"/>
                <a:ea typeface="Calibri" pitchFamily="34" charset="-122"/>
                <a:cs typeface="Calibri" pitchFamily="34" charset="-120"/>
              </a:rPr>
              <a:t>METRICS</a:t>
            </a:r>
            <a:endParaRPr lang="en-US" sz="1050" dirty="0"/>
          </a:p>
        </p:txBody>
      </p:sp>
      <p:sp>
        <p:nvSpPr>
          <p:cNvPr id="16" name="Text 14"/>
          <p:cNvSpPr txBox="1"/>
          <p:nvPr/>
        </p:nvSpPr>
        <p:spPr>
          <a:xfrm>
            <a:off x="548640" y="2999232"/>
            <a:ext cx="3383280" cy="2103120"/>
          </a:xfrm>
          <a:prstGeom prst="rect">
            <a:avLst/>
          </a:prstGeom>
          <a:noFill/>
          <a:ln/>
        </p:spPr>
        <p:txBody>
          <a:bodyPr wrap="square" lIns="0" tIns="0" rIns="0" bIns="0" rtlCol="0" anchor="t"/>
          <a:lstStyle/>
          <a:p>
            <a:pPr marL="0" indent="0">
              <a:lnSpc>
                <a:spcPts val="1400"/>
              </a:lnSpc>
              <a:spcAft>
                <a:spcPts val="500"/>
              </a:spcAft>
              <a:buNone/>
            </a:pPr>
            <a:r>
              <a:rPr lang="en-US" sz="1050" b="1" dirty="0">
                <a:solidFill>
                  <a:srgbClr val="FFFFFF"/>
                </a:solidFill>
                <a:latin typeface="Calibri" pitchFamily="34" charset="0"/>
                <a:ea typeface="Calibri" pitchFamily="34" charset="-122"/>
                <a:cs typeface="Calibri" pitchFamily="34" charset="-120"/>
              </a:rPr>
              <a:t>Primary — geometric, per stratum</a:t>
            </a:r>
            <a:endParaRPr lang="en-US" sz="1050" dirty="0"/>
          </a:p>
          <a:p>
            <a:pPr marL="0" indent="0">
              <a:lnSpc>
                <a:spcPts val="1400"/>
              </a:lnSpc>
              <a:spcAft>
                <a:spcPts val="500"/>
              </a:spcAft>
              <a:buNone/>
            </a:pPr>
            <a:r>
              <a:rPr lang="en-US" sz="1050" dirty="0">
                <a:solidFill>
                  <a:srgbClr val="C3CCD8"/>
                </a:solidFill>
                <a:latin typeface="Calibri" pitchFamily="34" charset="0"/>
                <a:ea typeface="Calibri" pitchFamily="34" charset="-122"/>
                <a:cs typeface="Calibri" pitchFamily="34" charset="-120"/>
              </a:rPr>
              <a:t>Accuracy · completeness · F-score against the laser scan. F @ 5 cm per RealX3D, with 2 cm and 10 cm as a sensitivity check.</a:t>
            </a:r>
            <a:endParaRPr lang="en-US" sz="1050" dirty="0"/>
          </a:p>
          <a:p>
            <a:pPr marL="0" indent="0">
              <a:lnSpc>
                <a:spcPts val="1400"/>
              </a:lnSpc>
              <a:spcAft>
                <a:spcPts val="500"/>
              </a:spcAft>
              <a:buNone/>
            </a:pPr>
            <a:r>
              <a:rPr lang="en-US" sz="1050" b="1" dirty="0">
                <a:solidFill>
                  <a:srgbClr val="FFFFFF"/>
                </a:solidFill>
                <a:latin typeface="Calibri" pitchFamily="34" charset="0"/>
                <a:ea typeface="Calibri" pitchFamily="34" charset="-122"/>
                <a:cs typeface="Calibri" pitchFamily="34" charset="-120"/>
              </a:rPr>
              <a:t>Secondary — photometric</a:t>
            </a:r>
            <a:endParaRPr lang="en-US" sz="1050" dirty="0"/>
          </a:p>
          <a:p>
            <a:pPr marL="0" indent="0">
              <a:lnSpc>
                <a:spcPts val="1400"/>
              </a:lnSpc>
              <a:spcAft>
                <a:spcPts val="500"/>
              </a:spcAft>
              <a:buNone/>
            </a:pPr>
            <a:r>
              <a:rPr lang="en-US" sz="1050" dirty="0">
                <a:solidFill>
                  <a:srgbClr val="C3CCD8"/>
                </a:solidFill>
                <a:latin typeface="Calibri" pitchFamily="34" charset="0"/>
                <a:ea typeface="Calibri" pitchFamily="34" charset="-122"/>
                <a:cs typeface="Calibri" pitchFamily="34" charset="-120"/>
              </a:rPr>
              <a:t>PSNR · SSIM · LPIPS, retained for comparability with the published table. Gaussian population statistics support H1.</a:t>
            </a:r>
            <a:endParaRPr lang="en-US" sz="1050" dirty="0"/>
          </a:p>
        </p:txBody>
      </p:sp>
      <p:sp>
        <p:nvSpPr>
          <p:cNvPr id="17" name="Text 15"/>
          <p:cNvSpPr txBox="1"/>
          <p:nvPr/>
        </p:nvSpPr>
        <p:spPr>
          <a:xfrm>
            <a:off x="4343400" y="2697480"/>
            <a:ext cx="3291840" cy="237744"/>
          </a:xfrm>
          <a:prstGeom prst="rect">
            <a:avLst/>
          </a:prstGeom>
          <a:noFill/>
          <a:ln/>
        </p:spPr>
        <p:txBody>
          <a:bodyPr wrap="square" lIns="0" tIns="0" rIns="0" bIns="0" rtlCol="0" anchor="ctr"/>
          <a:lstStyle/>
          <a:p>
            <a:pPr marL="0" indent="0">
              <a:buNone/>
            </a:pPr>
            <a:r>
              <a:rPr lang="en-US" sz="1050" b="1" kern="0" spc="110" dirty="0">
                <a:solidFill>
                  <a:srgbClr val="E8833A"/>
                </a:solidFill>
                <a:latin typeface="Calibri" pitchFamily="34" charset="0"/>
                <a:ea typeface="Calibri" pitchFamily="34" charset="-122"/>
                <a:cs typeface="Calibri" pitchFamily="34" charset="-120"/>
              </a:rPr>
              <a:t>ABLATION</a:t>
            </a:r>
            <a:endParaRPr lang="en-US" sz="1050" dirty="0"/>
          </a:p>
        </p:txBody>
      </p:sp>
      <p:sp>
        <p:nvSpPr>
          <p:cNvPr id="18" name="Shape 16"/>
          <p:cNvSpPr/>
          <p:nvPr/>
        </p:nvSpPr>
        <p:spPr>
          <a:xfrm>
            <a:off x="4343400" y="3035808"/>
            <a:ext cx="3246120" cy="347472"/>
          </a:xfrm>
          <a:prstGeom prst="roundRect">
            <a:avLst>
              <a:gd name="adj" fmla="val 15789"/>
            </a:avLst>
          </a:prstGeom>
          <a:solidFill>
            <a:srgbClr val="1D2B42"/>
          </a:solidFill>
          <a:ln/>
        </p:spPr>
        <p:txBody>
          <a:bodyPr/>
          <a:lstStyle/>
          <a:p>
            <a:endParaRPr lang="en-IN"/>
          </a:p>
        </p:txBody>
      </p:sp>
      <p:sp>
        <p:nvSpPr>
          <p:cNvPr id="19" name="Text 17"/>
          <p:cNvSpPr txBox="1"/>
          <p:nvPr/>
        </p:nvSpPr>
        <p:spPr>
          <a:xfrm>
            <a:off x="4480560" y="3035808"/>
            <a:ext cx="3017520" cy="347472"/>
          </a:xfrm>
          <a:prstGeom prst="rect">
            <a:avLst/>
          </a:prstGeom>
          <a:noFill/>
          <a:ln/>
        </p:spPr>
        <p:txBody>
          <a:bodyPr wrap="square" lIns="0" tIns="0" rIns="0" bIns="0" rtlCol="0" anchor="ctr"/>
          <a:lstStyle/>
          <a:p>
            <a:pPr marL="0" indent="0">
              <a:buNone/>
            </a:pPr>
            <a:r>
              <a:rPr lang="en-US" sz="1050" dirty="0">
                <a:solidFill>
                  <a:srgbClr val="C3CCD8"/>
                </a:solidFill>
                <a:latin typeface="Calibri" pitchFamily="34" charset="0"/>
                <a:ea typeface="Calibri" pitchFamily="34" charset="-122"/>
                <a:cs typeface="Calibri" pitchFamily="34" charset="-120"/>
              </a:rPr>
              <a:t>Vanilla ADC (baseline)</a:t>
            </a:r>
            <a:endParaRPr lang="en-US" sz="1050" dirty="0"/>
          </a:p>
        </p:txBody>
      </p:sp>
      <p:sp>
        <p:nvSpPr>
          <p:cNvPr id="20" name="Shape 18"/>
          <p:cNvSpPr/>
          <p:nvPr/>
        </p:nvSpPr>
        <p:spPr>
          <a:xfrm>
            <a:off x="5961888" y="3383280"/>
            <a:ext cx="0" cy="155448"/>
          </a:xfrm>
          <a:prstGeom prst="line">
            <a:avLst/>
          </a:prstGeom>
          <a:noFill/>
          <a:ln w="15875">
            <a:solidFill>
              <a:srgbClr val="E8833A"/>
            </a:solidFill>
            <a:prstDash val="solid"/>
            <a:tailEnd type="triangle"/>
          </a:ln>
        </p:spPr>
        <p:txBody>
          <a:bodyPr/>
          <a:lstStyle/>
          <a:p>
            <a:endParaRPr lang="en-IN"/>
          </a:p>
        </p:txBody>
      </p:sp>
      <p:sp>
        <p:nvSpPr>
          <p:cNvPr id="21" name="Shape 19"/>
          <p:cNvSpPr/>
          <p:nvPr/>
        </p:nvSpPr>
        <p:spPr>
          <a:xfrm>
            <a:off x="4343400" y="3538728"/>
            <a:ext cx="3246120" cy="347472"/>
          </a:xfrm>
          <a:prstGeom prst="roundRect">
            <a:avLst>
              <a:gd name="adj" fmla="val 15789"/>
            </a:avLst>
          </a:prstGeom>
          <a:solidFill>
            <a:srgbClr val="1D2B42"/>
          </a:solidFill>
          <a:ln/>
        </p:spPr>
        <p:txBody>
          <a:bodyPr/>
          <a:lstStyle/>
          <a:p>
            <a:endParaRPr lang="en-IN"/>
          </a:p>
        </p:txBody>
      </p:sp>
      <p:sp>
        <p:nvSpPr>
          <p:cNvPr id="22" name="Text 20"/>
          <p:cNvSpPr txBox="1"/>
          <p:nvPr/>
        </p:nvSpPr>
        <p:spPr>
          <a:xfrm>
            <a:off x="4480560" y="3538728"/>
            <a:ext cx="3017520" cy="347472"/>
          </a:xfrm>
          <a:prstGeom prst="rect">
            <a:avLst/>
          </a:prstGeom>
          <a:noFill/>
          <a:ln/>
        </p:spPr>
        <p:txBody>
          <a:bodyPr wrap="square" lIns="0" tIns="0" rIns="0" bIns="0" rtlCol="0" anchor="ctr"/>
          <a:lstStyle/>
          <a:p>
            <a:pPr marL="0" indent="0">
              <a:buNone/>
            </a:pPr>
            <a:r>
              <a:rPr lang="en-US" sz="1050" dirty="0">
                <a:solidFill>
                  <a:srgbClr val="C3CCD8"/>
                </a:solidFill>
                <a:latin typeface="Calibri" pitchFamily="34" charset="0"/>
                <a:ea typeface="Calibri" pitchFamily="34" charset="-122"/>
                <a:cs typeface="Calibri" pitchFamily="34" charset="-120"/>
              </a:rPr>
              <a:t>+ sharpness weighting only</a:t>
            </a:r>
            <a:endParaRPr lang="en-US" sz="1050" dirty="0"/>
          </a:p>
        </p:txBody>
      </p:sp>
      <p:sp>
        <p:nvSpPr>
          <p:cNvPr id="23" name="Shape 21"/>
          <p:cNvSpPr/>
          <p:nvPr/>
        </p:nvSpPr>
        <p:spPr>
          <a:xfrm>
            <a:off x="5961888" y="3886200"/>
            <a:ext cx="0" cy="155448"/>
          </a:xfrm>
          <a:prstGeom prst="line">
            <a:avLst/>
          </a:prstGeom>
          <a:noFill/>
          <a:ln w="15875">
            <a:solidFill>
              <a:srgbClr val="E8833A"/>
            </a:solidFill>
            <a:prstDash val="solid"/>
            <a:tailEnd type="triangle"/>
          </a:ln>
        </p:spPr>
        <p:txBody>
          <a:bodyPr/>
          <a:lstStyle/>
          <a:p>
            <a:endParaRPr lang="en-IN"/>
          </a:p>
        </p:txBody>
      </p:sp>
      <p:sp>
        <p:nvSpPr>
          <p:cNvPr id="24" name="Shape 22"/>
          <p:cNvSpPr/>
          <p:nvPr/>
        </p:nvSpPr>
        <p:spPr>
          <a:xfrm>
            <a:off x="4343400" y="4041648"/>
            <a:ext cx="3246120" cy="347472"/>
          </a:xfrm>
          <a:prstGeom prst="roundRect">
            <a:avLst>
              <a:gd name="adj" fmla="val 15789"/>
            </a:avLst>
          </a:prstGeom>
          <a:solidFill>
            <a:srgbClr val="1D2B42"/>
          </a:solidFill>
          <a:ln/>
        </p:spPr>
        <p:txBody>
          <a:bodyPr/>
          <a:lstStyle/>
          <a:p>
            <a:endParaRPr lang="en-IN"/>
          </a:p>
        </p:txBody>
      </p:sp>
      <p:sp>
        <p:nvSpPr>
          <p:cNvPr id="25" name="Text 23"/>
          <p:cNvSpPr txBox="1"/>
          <p:nvPr/>
        </p:nvSpPr>
        <p:spPr>
          <a:xfrm>
            <a:off x="4480560" y="4041648"/>
            <a:ext cx="3017520" cy="347472"/>
          </a:xfrm>
          <a:prstGeom prst="rect">
            <a:avLst/>
          </a:prstGeom>
          <a:noFill/>
          <a:ln/>
        </p:spPr>
        <p:txBody>
          <a:bodyPr wrap="square" lIns="0" tIns="0" rIns="0" bIns="0" rtlCol="0" anchor="ctr"/>
          <a:lstStyle/>
          <a:p>
            <a:pPr marL="0" indent="0">
              <a:buNone/>
            </a:pPr>
            <a:r>
              <a:rPr lang="en-US" sz="1050" dirty="0">
                <a:solidFill>
                  <a:srgbClr val="C3CCD8"/>
                </a:solidFill>
                <a:latin typeface="Calibri" pitchFamily="34" charset="0"/>
                <a:ea typeface="Calibri" pitchFamily="34" charset="-122"/>
                <a:cs typeface="Calibri" pitchFamily="34" charset="-120"/>
              </a:rPr>
              <a:t>+ structure weighting only</a:t>
            </a:r>
            <a:endParaRPr lang="en-US" sz="1050" dirty="0"/>
          </a:p>
        </p:txBody>
      </p:sp>
      <p:sp>
        <p:nvSpPr>
          <p:cNvPr id="26" name="Shape 24"/>
          <p:cNvSpPr/>
          <p:nvPr/>
        </p:nvSpPr>
        <p:spPr>
          <a:xfrm>
            <a:off x="5961888" y="4389120"/>
            <a:ext cx="0" cy="155448"/>
          </a:xfrm>
          <a:prstGeom prst="line">
            <a:avLst/>
          </a:prstGeom>
          <a:noFill/>
          <a:ln w="15875">
            <a:solidFill>
              <a:srgbClr val="E8833A"/>
            </a:solidFill>
            <a:prstDash val="solid"/>
            <a:tailEnd type="triangle"/>
          </a:ln>
        </p:spPr>
        <p:txBody>
          <a:bodyPr/>
          <a:lstStyle/>
          <a:p>
            <a:endParaRPr lang="en-IN"/>
          </a:p>
        </p:txBody>
      </p:sp>
      <p:sp>
        <p:nvSpPr>
          <p:cNvPr id="27" name="Shape 25"/>
          <p:cNvSpPr/>
          <p:nvPr/>
        </p:nvSpPr>
        <p:spPr>
          <a:xfrm>
            <a:off x="4343400" y="4544568"/>
            <a:ext cx="3246120" cy="347472"/>
          </a:xfrm>
          <a:prstGeom prst="roundRect">
            <a:avLst>
              <a:gd name="adj" fmla="val 15789"/>
            </a:avLst>
          </a:prstGeom>
          <a:solidFill>
            <a:srgbClr val="2E7D8F"/>
          </a:solidFill>
          <a:ln/>
        </p:spPr>
        <p:txBody>
          <a:bodyPr/>
          <a:lstStyle/>
          <a:p>
            <a:endParaRPr lang="en-IN"/>
          </a:p>
        </p:txBody>
      </p:sp>
      <p:sp>
        <p:nvSpPr>
          <p:cNvPr id="28" name="Text 26"/>
          <p:cNvSpPr txBox="1"/>
          <p:nvPr/>
        </p:nvSpPr>
        <p:spPr>
          <a:xfrm>
            <a:off x="4480560" y="4544568"/>
            <a:ext cx="301752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 both  ·  vs. MCMC densification</a:t>
            </a:r>
            <a:endParaRPr lang="en-US" sz="1050" dirty="0"/>
          </a:p>
        </p:txBody>
      </p:sp>
      <p:sp>
        <p:nvSpPr>
          <p:cNvPr id="29" name="Text 27"/>
          <p:cNvSpPr txBox="1"/>
          <p:nvPr/>
        </p:nvSpPr>
        <p:spPr>
          <a:xfrm>
            <a:off x="4343400" y="5029200"/>
            <a:ext cx="3291840" cy="237744"/>
          </a:xfrm>
          <a:prstGeom prst="rect">
            <a:avLst/>
          </a:prstGeom>
          <a:noFill/>
          <a:ln/>
        </p:spPr>
        <p:txBody>
          <a:bodyPr wrap="square" lIns="0" tIns="0" rIns="0" bIns="0" rtlCol="0" anchor="ctr"/>
          <a:lstStyle/>
          <a:p>
            <a:pPr marL="0" indent="0">
              <a:buNone/>
            </a:pPr>
            <a:r>
              <a:rPr lang="en-US" sz="1000" i="1" dirty="0">
                <a:solidFill>
                  <a:srgbClr val="8A94A6"/>
                </a:solidFill>
                <a:latin typeface="Calibri" pitchFamily="34" charset="0"/>
                <a:ea typeface="Calibri" pitchFamily="34" charset="-122"/>
                <a:cs typeface="Calibri" pitchFamily="34" charset="-120"/>
              </a:rPr>
              <a:t>Isolates blur weighting from structural weighting.</a:t>
            </a:r>
            <a:endParaRPr lang="en-US" sz="1000" dirty="0"/>
          </a:p>
        </p:txBody>
      </p:sp>
      <p:sp>
        <p:nvSpPr>
          <p:cNvPr id="30" name="Text 28"/>
          <p:cNvSpPr txBox="1"/>
          <p:nvPr/>
        </p:nvSpPr>
        <p:spPr>
          <a:xfrm>
            <a:off x="8138160" y="2697480"/>
            <a:ext cx="3474720" cy="237744"/>
          </a:xfrm>
          <a:prstGeom prst="rect">
            <a:avLst/>
          </a:prstGeom>
          <a:noFill/>
          <a:ln/>
        </p:spPr>
        <p:txBody>
          <a:bodyPr wrap="square" lIns="0" tIns="0" rIns="0" bIns="0" rtlCol="0" anchor="ctr"/>
          <a:lstStyle/>
          <a:p>
            <a:pPr marL="0" indent="0">
              <a:buNone/>
            </a:pPr>
            <a:r>
              <a:rPr lang="en-US" sz="1050" b="1" kern="0" spc="110" dirty="0">
                <a:solidFill>
                  <a:srgbClr val="E8833A"/>
                </a:solidFill>
                <a:latin typeface="Calibri" pitchFamily="34" charset="0"/>
                <a:ea typeface="Calibri" pitchFamily="34" charset="-122"/>
                <a:cs typeface="Calibri" pitchFamily="34" charset="-120"/>
              </a:rPr>
              <a:t>SUCCESS CRITERIA</a:t>
            </a:r>
            <a:endParaRPr lang="en-US" sz="1050" dirty="0"/>
          </a:p>
        </p:txBody>
      </p:sp>
      <p:sp>
        <p:nvSpPr>
          <p:cNvPr id="31" name="Text 29"/>
          <p:cNvSpPr txBox="1"/>
          <p:nvPr/>
        </p:nvSpPr>
        <p:spPr>
          <a:xfrm>
            <a:off x="8183880" y="2999232"/>
            <a:ext cx="3429000" cy="182880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C3CCD8"/>
                </a:solidFill>
                <a:latin typeface="Calibri" pitchFamily="34" charset="0"/>
                <a:ea typeface="Calibri" pitchFamily="34" charset="-122"/>
                <a:cs typeface="Calibri" pitchFamily="34" charset="-120"/>
              </a:rPr>
              <a:t>Reproduce RealX3D's photometric table to ≈0.3 dB.</a:t>
            </a:r>
            <a:endParaRPr lang="en-US" sz="1050" dirty="0"/>
          </a:p>
          <a:p>
            <a:pPr marL="342900" indent="-342900">
              <a:lnSpc>
                <a:spcPts val="1400"/>
              </a:lnSpc>
              <a:spcAft>
                <a:spcPts val="600"/>
              </a:spcAft>
              <a:buSzPct val="100000"/>
              <a:buChar char="•"/>
            </a:pPr>
            <a:r>
              <a:rPr lang="en-US" sz="1050" dirty="0">
                <a:solidFill>
                  <a:srgbClr val="C3CCD8"/>
                </a:solidFill>
                <a:latin typeface="Calibri" pitchFamily="34" charset="0"/>
                <a:ea typeface="Calibri" pitchFamily="34" charset="-122"/>
                <a:cs typeface="Calibri" pitchFamily="34" charset="-120"/>
              </a:rPr>
              <a:t>Establish whether geometric error is structure-dependent — i.e. whether ranking changes under stratification.</a:t>
            </a:r>
            <a:endParaRPr lang="en-US" sz="1050" dirty="0"/>
          </a:p>
          <a:p>
            <a:pPr marL="342900" indent="-342900">
              <a:lnSpc>
                <a:spcPts val="1400"/>
              </a:lnSpc>
              <a:spcAft>
                <a:spcPts val="600"/>
              </a:spcAft>
              <a:buSzPct val="100000"/>
              <a:buChar char="•"/>
            </a:pPr>
            <a:r>
              <a:rPr lang="en-US" sz="1050" dirty="0">
                <a:solidFill>
                  <a:srgbClr val="C3CCD8"/>
                </a:solidFill>
                <a:latin typeface="Calibri" pitchFamily="34" charset="0"/>
                <a:ea typeface="Calibri" pitchFamily="34" charset="-122"/>
                <a:cs typeface="Calibri" pitchFamily="34" charset="-120"/>
              </a:rPr>
              <a:t>Improve per-stratum F-score on fragile strata without regressing overall reconstruction quality — or document why it fails.</a:t>
            </a:r>
            <a:endParaRPr lang="en-US" sz="1050" dirty="0"/>
          </a:p>
        </p:txBody>
      </p:sp>
      <p:sp>
        <p:nvSpPr>
          <p:cNvPr id="32" name="Text 30"/>
          <p:cNvSpPr txBox="1"/>
          <p:nvPr/>
        </p:nvSpPr>
        <p:spPr>
          <a:xfrm>
            <a:off x="548640" y="5349240"/>
            <a:ext cx="1371600" cy="237744"/>
          </a:xfrm>
          <a:prstGeom prst="rect">
            <a:avLst/>
          </a:prstGeom>
          <a:noFill/>
          <a:ln/>
        </p:spPr>
        <p:txBody>
          <a:bodyPr wrap="square" lIns="0" tIns="0" rIns="0" bIns="0" rtlCol="0" anchor="ctr"/>
          <a:lstStyle/>
          <a:p>
            <a:pPr marL="0" indent="0">
              <a:buNone/>
            </a:pPr>
            <a:r>
              <a:rPr lang="en-US" sz="1000" b="1" kern="0" spc="110" dirty="0">
                <a:solidFill>
                  <a:srgbClr val="E8833A"/>
                </a:solidFill>
                <a:latin typeface="Calibri" pitchFamily="34" charset="0"/>
                <a:ea typeface="Calibri" pitchFamily="34" charset="-122"/>
                <a:cs typeface="Calibri" pitchFamily="34" charset="-120"/>
              </a:rPr>
              <a:t>TIMELINE</a:t>
            </a:r>
            <a:endParaRPr lang="en-US" sz="1000" dirty="0"/>
          </a:p>
        </p:txBody>
      </p:sp>
      <p:sp>
        <p:nvSpPr>
          <p:cNvPr id="33" name="Shape 31"/>
          <p:cNvSpPr/>
          <p:nvPr/>
        </p:nvSpPr>
        <p:spPr>
          <a:xfrm>
            <a:off x="1965960" y="5413248"/>
            <a:ext cx="118872" cy="118872"/>
          </a:xfrm>
          <a:prstGeom prst="ellipse">
            <a:avLst/>
          </a:prstGeom>
          <a:solidFill>
            <a:srgbClr val="2E7D8F"/>
          </a:solidFill>
          <a:ln/>
        </p:spPr>
        <p:txBody>
          <a:bodyPr/>
          <a:lstStyle/>
          <a:p>
            <a:endParaRPr lang="en-IN"/>
          </a:p>
        </p:txBody>
      </p:sp>
      <p:sp>
        <p:nvSpPr>
          <p:cNvPr id="34" name="Text 32"/>
          <p:cNvSpPr txBox="1"/>
          <p:nvPr/>
        </p:nvSpPr>
        <p:spPr>
          <a:xfrm>
            <a:off x="2167128" y="5340096"/>
            <a:ext cx="22402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Wk 1–2  </a:t>
            </a:r>
            <a:r>
              <a:rPr lang="en-US" sz="1000" dirty="0">
                <a:solidFill>
                  <a:srgbClr val="C3CCD8"/>
                </a:solidFill>
                <a:latin typeface="Calibri" pitchFamily="34" charset="0"/>
                <a:ea typeface="Calibri" pitchFamily="34" charset="-122"/>
                <a:cs typeface="Calibri" pitchFamily="34" charset="-120"/>
              </a:rPr>
              <a:t>reproduce one photometric row</a:t>
            </a:r>
            <a:endParaRPr lang="en-US" sz="1000" dirty="0"/>
          </a:p>
        </p:txBody>
      </p:sp>
      <p:sp>
        <p:nvSpPr>
          <p:cNvPr id="35" name="Shape 33"/>
          <p:cNvSpPr/>
          <p:nvPr/>
        </p:nvSpPr>
        <p:spPr>
          <a:xfrm>
            <a:off x="4416552" y="5413248"/>
            <a:ext cx="118872" cy="118872"/>
          </a:xfrm>
          <a:prstGeom prst="ellipse">
            <a:avLst/>
          </a:prstGeom>
          <a:solidFill>
            <a:srgbClr val="2E7D8F"/>
          </a:solidFill>
          <a:ln/>
        </p:spPr>
        <p:txBody>
          <a:bodyPr/>
          <a:lstStyle/>
          <a:p>
            <a:endParaRPr lang="en-IN"/>
          </a:p>
        </p:txBody>
      </p:sp>
      <p:sp>
        <p:nvSpPr>
          <p:cNvPr id="36" name="Text 34"/>
          <p:cNvSpPr txBox="1"/>
          <p:nvPr/>
        </p:nvSpPr>
        <p:spPr>
          <a:xfrm>
            <a:off x="4617720" y="5340096"/>
            <a:ext cx="22402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Wk 3–7  </a:t>
            </a:r>
            <a:r>
              <a:rPr lang="en-US" sz="1000" dirty="0">
                <a:solidFill>
                  <a:srgbClr val="C3CCD8"/>
                </a:solidFill>
                <a:latin typeface="Calibri" pitchFamily="34" charset="0"/>
                <a:ea typeface="Calibri" pitchFamily="34" charset="-122"/>
                <a:cs typeface="Calibri" pitchFamily="34" charset="-120"/>
              </a:rPr>
              <a:t>Stage 1 stratified geometry</a:t>
            </a:r>
            <a:endParaRPr lang="en-US" sz="1000" dirty="0"/>
          </a:p>
        </p:txBody>
      </p:sp>
      <p:sp>
        <p:nvSpPr>
          <p:cNvPr id="37" name="Shape 35"/>
          <p:cNvSpPr/>
          <p:nvPr/>
        </p:nvSpPr>
        <p:spPr>
          <a:xfrm>
            <a:off x="6867144" y="5413248"/>
            <a:ext cx="118872" cy="118872"/>
          </a:xfrm>
          <a:prstGeom prst="ellipse">
            <a:avLst/>
          </a:prstGeom>
          <a:solidFill>
            <a:srgbClr val="2E7D8F"/>
          </a:solidFill>
          <a:ln/>
        </p:spPr>
        <p:txBody>
          <a:bodyPr/>
          <a:lstStyle/>
          <a:p>
            <a:endParaRPr lang="en-IN"/>
          </a:p>
        </p:txBody>
      </p:sp>
      <p:sp>
        <p:nvSpPr>
          <p:cNvPr id="38" name="Text 36"/>
          <p:cNvSpPr txBox="1"/>
          <p:nvPr/>
        </p:nvSpPr>
        <p:spPr>
          <a:xfrm>
            <a:off x="7068312" y="5340096"/>
            <a:ext cx="22402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Wk 8–11  </a:t>
            </a:r>
            <a:r>
              <a:rPr lang="en-US" sz="1000" dirty="0">
                <a:solidFill>
                  <a:srgbClr val="C3CCD8"/>
                </a:solidFill>
                <a:latin typeface="Calibri" pitchFamily="34" charset="0"/>
                <a:ea typeface="Calibri" pitchFamily="34" charset="-122"/>
                <a:cs typeface="Calibri" pitchFamily="34" charset="-120"/>
              </a:rPr>
              <a:t>Stage 2 rule + ablations</a:t>
            </a:r>
            <a:endParaRPr lang="en-US" sz="1000" dirty="0"/>
          </a:p>
        </p:txBody>
      </p:sp>
      <p:sp>
        <p:nvSpPr>
          <p:cNvPr id="39" name="Shape 37"/>
          <p:cNvSpPr/>
          <p:nvPr/>
        </p:nvSpPr>
        <p:spPr>
          <a:xfrm>
            <a:off x="9317736" y="5413248"/>
            <a:ext cx="118872" cy="118872"/>
          </a:xfrm>
          <a:prstGeom prst="ellipse">
            <a:avLst/>
          </a:prstGeom>
          <a:solidFill>
            <a:srgbClr val="2E7D8F"/>
          </a:solidFill>
          <a:ln/>
        </p:spPr>
        <p:txBody>
          <a:bodyPr/>
          <a:lstStyle/>
          <a:p>
            <a:endParaRPr lang="en-IN"/>
          </a:p>
        </p:txBody>
      </p:sp>
      <p:sp>
        <p:nvSpPr>
          <p:cNvPr id="40" name="Text 38"/>
          <p:cNvSpPr txBox="1"/>
          <p:nvPr/>
        </p:nvSpPr>
        <p:spPr>
          <a:xfrm>
            <a:off x="9518904" y="5340096"/>
            <a:ext cx="2240280"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Wk 12  </a:t>
            </a:r>
            <a:r>
              <a:rPr lang="en-US" sz="1000" dirty="0">
                <a:solidFill>
                  <a:srgbClr val="C3CCD8"/>
                </a:solidFill>
                <a:latin typeface="Calibri" pitchFamily="34" charset="0"/>
                <a:ea typeface="Calibri" pitchFamily="34" charset="-122"/>
                <a:cs typeface="Calibri" pitchFamily="34" charset="-120"/>
              </a:rPr>
              <a:t>sensitivity + write-up</a:t>
            </a:r>
            <a:endParaRPr lang="en-US" sz="1000" dirty="0"/>
          </a:p>
        </p:txBody>
      </p:sp>
      <p:sp>
        <p:nvSpPr>
          <p:cNvPr id="41" name="Shape 39"/>
          <p:cNvSpPr/>
          <p:nvPr/>
        </p:nvSpPr>
        <p:spPr>
          <a:xfrm>
            <a:off x="548640" y="5806440"/>
            <a:ext cx="11064240" cy="658368"/>
          </a:xfrm>
          <a:prstGeom prst="roundRect">
            <a:avLst>
              <a:gd name="adj" fmla="val 11111"/>
            </a:avLst>
          </a:prstGeom>
          <a:solidFill>
            <a:srgbClr val="1D2B42"/>
          </a:solidFill>
          <a:ln/>
        </p:spPr>
        <p:txBody>
          <a:bodyPr/>
          <a:lstStyle/>
          <a:p>
            <a:endParaRPr lang="en-IN"/>
          </a:p>
        </p:txBody>
      </p:sp>
      <p:sp>
        <p:nvSpPr>
          <p:cNvPr id="42" name="Text 40"/>
          <p:cNvSpPr txBox="1"/>
          <p:nvPr/>
        </p:nvSpPr>
        <p:spPr>
          <a:xfrm>
            <a:off x="822960" y="5907024"/>
            <a:ext cx="10515600" cy="457200"/>
          </a:xfrm>
          <a:prstGeom prst="rect">
            <a:avLst/>
          </a:prstGeom>
          <a:noFill/>
          <a:ln/>
        </p:spPr>
        <p:txBody>
          <a:bodyPr wrap="square" lIns="0" tIns="0" rIns="0" bIns="0" rtlCol="0" anchor="ctr"/>
          <a:lstStyle/>
          <a:p>
            <a:pPr marL="0" indent="0">
              <a:lnSpc>
                <a:spcPts val="1400"/>
              </a:lnSpc>
              <a:buNone/>
            </a:pPr>
            <a:r>
              <a:rPr lang="en-US" sz="1050" b="1" dirty="0">
                <a:solidFill>
                  <a:srgbClr val="E8833A"/>
                </a:solidFill>
                <a:latin typeface="Calibri" pitchFamily="34" charset="0"/>
                <a:ea typeface="Calibri" pitchFamily="34" charset="-122"/>
                <a:cs typeface="Calibri" pitchFamily="34" charset="-120"/>
              </a:rPr>
              <a:t>A null result is still informative  </a:t>
            </a:r>
            <a:r>
              <a:rPr lang="en-US" sz="1050" dirty="0">
                <a:solidFill>
                  <a:srgbClr val="C3CCD8"/>
                </a:solidFill>
                <a:latin typeface="Calibri" pitchFamily="34" charset="0"/>
                <a:ea typeface="Calibri" pitchFamily="34" charset="-122"/>
                <a:cs typeface="Calibri" pitchFamily="34" charset="-120"/>
              </a:rPr>
              <a:t>— if rankings stay stable under stratification, that tells us scene-level metrics already capture most of the relevant geometric variation for this benchmark. Main build risk: 2024-era CUDA stacks may not compile for recent GPUs; we target older cluster nodes with a week-3 drop checkpoint.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2332</Words>
  <Application>Microsoft Office PowerPoint</Application>
  <PresentationFormat>Widescreen</PresentationFormat>
  <Paragraphs>86</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Saksham Bali (U20230061)</cp:lastModifiedBy>
  <cp:revision>2</cp:revision>
  <dcterms:created xsi:type="dcterms:W3CDTF">2026-09-11T04:38:35Z</dcterms:created>
  <dcterms:modified xsi:type="dcterms:W3CDTF">2026-09-11T05:24:47Z</dcterms:modified>
</cp:coreProperties>
</file>